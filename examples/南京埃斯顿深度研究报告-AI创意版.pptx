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harts/chart7.xml" ContentType="application/vnd.openxmlformats-officedocument.drawingml.chart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08802816901408451"/>
          <c:y val="0.015384615384615385"/>
          <c:w val="0.9823943661971831"/>
          <c:h val="0.9179487179487179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全球安装量（万台）</c:v>
                </c:pt>
              </c:strCache>
            </c:strRef>
          </c:tx>
          <c:spPr>
            <a:solidFill>
              <a:srgbClr val="F26322">
                <a:alpha val="100000"/>
              </a:srgbClr>
            </a:solidFill>
            <a:ln w="19050" cap="flat">
              <a:solidFill>
                <a:srgbClr val="F26322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675" u="none">
                    <a:solidFill>
                      <a:srgbClr val="5B6879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6322"/>
              </a:solidFill>
              <a:ln w="9525" cap="flat">
                <a:solidFill>
                  <a:srgbClr val="F263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2025E</c:v>
                  </c:pt>
                  <c:pt idx="2">
                    <c:v>2028E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54.2</c:v>
                </c:pt>
                <c:pt idx="1">
                  <c:v>57.5</c:v>
                </c:pt>
                <c:pt idx="2">
                  <c:v>70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675" u="none">
                  <a:solidFill>
                    <a:srgbClr val="5B6879"/>
                  </a:solidFill>
                  <a:latin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87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.6000000000000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16129032258064516"/>
          <c:y val="0.015384615384615385"/>
          <c:w val="0.967741935483871"/>
          <c:h val="0.91794871794871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营业收入（亿元）</c:v>
                </c:pt>
              </c:strCache>
            </c:strRef>
          </c:tx>
          <c:spPr>
            <a:solidFill>
              <a:srgbClr val="09192C">
                <a:alpha val="100000"/>
              </a:srgbClr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675" u="none">
                    <a:solidFill>
                      <a:srgbClr val="5B6879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2026H1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30.2</c:v>
                </c:pt>
                <c:pt idx="1">
                  <c:v>38.81</c:v>
                </c:pt>
                <c:pt idx="2">
                  <c:v>46.52</c:v>
                </c:pt>
                <c:pt idx="3">
                  <c:v>40.09</c:v>
                </c:pt>
                <c:pt idx="4">
                  <c:v>48.88</c:v>
                </c:pt>
                <c:pt idx="5">
                  <c:v>25.78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675" u="none">
                  <a:solidFill>
                    <a:srgbClr val="5B6879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87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.79040000000000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"/>
          <c:y val="0.015384615384615385"/>
          <c:w val="0.96"/>
          <c:h val="0.91794871794871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归母净利润（亿元）</c:v>
                </c:pt>
              </c:strCache>
            </c:strRef>
          </c:tx>
          <c:spPr>
            <a:solidFill>
              <a:srgbClr val="F26322">
                <a:alpha val="100000"/>
              </a:srgbClr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675" u="none">
                    <a:solidFill>
                      <a:srgbClr val="5B6879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2026H1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1.22</c:v>
                </c:pt>
                <c:pt idx="1">
                  <c:v>1.66</c:v>
                </c:pt>
                <c:pt idx="2">
                  <c:v>1.35</c:v>
                </c:pt>
                <c:pt idx="3">
                  <c:v>-8.1</c:v>
                </c:pt>
                <c:pt idx="4">
                  <c:v>0.45</c:v>
                </c:pt>
                <c:pt idx="5">
                  <c:v>1.61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675" u="none">
                  <a:solidFill>
                    <a:srgbClr val="5B6879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87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928"/>
          <c:min val="-8.74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19230769230769232"/>
          <c:y val="0.0761904761904762"/>
          <c:w val="0.9615384615384616"/>
          <c:h val="0.904761904761904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2025年收入（亿元）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7D1D9"/>
              </a:solidFill>
              <a:effectLst/>
            </c:spPr>
          </c:dPt>
          <c:dPt>
            <c:idx val="1"/>
            <c:bubble3D val="0"/>
            <c:spPr>
              <a:solidFill>
                <a:srgbClr val="F2632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675" b="0" i="0" u="none" strike="noStrike">
                      <a:solidFill>
                        <a:srgbClr val="5B6879"/>
                      </a:solidFill>
                      <a:latin typeface="Microsoft Ya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675" b="0" i="0" u="none" strike="noStrike">
                      <a:solidFill>
                        <a:srgbClr val="5B6879"/>
                      </a:solidFill>
                      <a:latin typeface="Microsoft YaHe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境内收入</c:v>
                </c:pt>
                <c:pt idx="1">
                  <c:v>境外收入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34.25</c:v>
                </c:pt>
                <c:pt idx="1">
                  <c:v>14.63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25">
              <a:solidFill>
                <a:srgbClr val="5B6879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14285714285714285"/>
          <c:y val="0.014285714285714285"/>
          <c:w val="0.9714285714285714"/>
          <c:h val="0.9238095238095239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资产负债率（%）</c:v>
                </c:pt>
              </c:strCache>
            </c:strRef>
          </c:tx>
          <c:spPr>
            <a:solidFill>
              <a:srgbClr val="09192C">
                <a:alpha val="100000"/>
              </a:srgbClr>
            </a:solidFill>
            <a:ln w="19050" cap="flat">
              <a:solidFill>
                <a:srgbClr val="09192C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675" u="none">
                    <a:solidFill>
                      <a:srgbClr val="5B6879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9192C"/>
              </a:solidFill>
              <a:ln w="9525" cap="flat">
                <a:solidFill>
                  <a:srgbClr val="0919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2026H1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81.3</c:v>
                </c:pt>
                <c:pt idx="2">
                  <c:v>78.6</c:v>
                </c:pt>
                <c:pt idx="3">
                  <c:v>68.2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675" u="none">
                  <a:solidFill>
                    <a:srgbClr val="5B6879"/>
                  </a:solidFill>
                  <a:latin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87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7.80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13888888888888888"/>
          <c:y val="0.07804878048780488"/>
          <c:w val="0.9722222222222222"/>
          <c:h val="0.8585365853658536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前五大客户占比（%）</c:v>
                </c:pt>
              </c:strCache>
            </c:strRef>
          </c:tx>
          <c:spPr>
            <a:solidFill>
              <a:srgbClr val="09192C">
                <a:alpha val="100000"/>
              </a:srgbClr>
            </a:solidFill>
            <a:ln w="19050" cap="flat">
              <a:solidFill>
                <a:srgbClr val="09192C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675" u="none">
                    <a:solidFill>
                      <a:srgbClr val="5B6879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9192C"/>
              </a:solidFill>
              <a:ln w="9525" cap="flat">
                <a:solidFill>
                  <a:srgbClr val="0919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2022</c:v>
                  </c:pt>
                  <c:pt idx="1">
                    <c:v>2025年前三季度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16.4</c:v>
                </c:pt>
                <c:pt idx="1">
                  <c:v>37.2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最大客户占比（%）</c:v>
                </c:pt>
              </c:strCache>
            </c:strRef>
          </c:tx>
          <c:spPr>
            <a:solidFill>
              <a:srgbClr val="F26322">
                <a:alpha val="100000"/>
              </a:srgbClr>
            </a:solidFill>
            <a:ln w="19050" cap="flat">
              <a:solidFill>
                <a:srgbClr val="F26322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675" u="none">
                    <a:solidFill>
                      <a:srgbClr val="5B6879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6322"/>
              </a:solidFill>
              <a:ln w="9525" cap="flat">
                <a:solidFill>
                  <a:srgbClr val="F263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2022</c:v>
                  </c:pt>
                  <c:pt idx="1">
                    <c:v>2025年前三季度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5.5</c:v>
                </c:pt>
                <c:pt idx="1">
                  <c:v>18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675" u="none">
                  <a:solidFill>
                    <a:srgbClr val="5B6879"/>
                  </a:solidFill>
                  <a:latin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87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.1760000000000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25">
              <a:solidFill>
                <a:srgbClr val="5B6879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1282051282051282"/>
          <c:y val="0.013953488372093023"/>
          <c:w val="0.9743589743589743"/>
          <c:h val="0.9255813953488372"/>
        </c:manualLayout>
      </c:layout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归母净利润（亿元）</c:v>
                </c:pt>
              </c:strCache>
            </c:strRef>
          </c:tx>
          <c:spPr>
            <a:solidFill>
              <a:srgbClr val="F26322">
                <a:alpha val="20000"/>
              </a:srgbClr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675" u="none">
                    <a:solidFill>
                      <a:srgbClr val="5B6879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2025A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2.15</c:v>
                </c:pt>
                <c:pt idx="2">
                  <c:v>2.89</c:v>
                </c:pt>
                <c:pt idx="3">
                  <c:v>3.79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675" u="none">
                  <a:solidFill>
                    <a:srgbClr val="5B6879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87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093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南京埃斯顿深度研究报告.md：核心结论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南京埃斯顿深度研究报告.md：核心结论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南京埃斯顿深度研究报告.md：核心结论、估值测算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南京埃斯顿深度研究报告.md：行业分析2.1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南京埃斯顿深度研究报告.md：行业分析2.1、2.2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南京埃斯顿深度研究报告.md：竞争格局2.2、市场地位3.2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南京埃斯顿深度研究报告.md：市场地位3.2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南京埃斯顿深度研究报告.md：公司概况、业务分析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南京埃斯顿深度研究报告.md：发展历程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南京埃斯顿深度研究报告.md：五年财务全景4.1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南京埃斯顿深度研究报告.md：2024年巨亏解剖4.2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南京埃斯顿深度研究报告.md：盈利质量4.3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南京埃斯顿深度研究报告.md：分区域业务4.1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南京埃斯顿深度研究报告.md：资产负债与现金流4.4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南京埃斯顿深度研究报告.md：客户集中度4.5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南京埃斯顿深度研究报告.md：收购酷卓5.1
- examples/assets/industrial-robot-editorial.png：AI生成示意视觉，不代表真实工厂或产品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南京埃斯顿深度研究报告.md：人形机器人2.3、收购酷卓5.1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南京埃斯顿深度研究报告.md：股权激励5.2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南京埃斯顿深度研究报告.md：机构一致预期6.1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南京埃斯顿深度研究报告.md：估值测算6.2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南京埃斯顿深度研究报告.md：情景分析6.3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南京埃斯顿深度研究报告.md：风险提示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南京埃斯顿深度研究报告.md：结论、操作建议框架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317" y="1047720"/>
            <a:ext cx="4762378" cy="4762378"/>
          </a:xfrm>
          <a:custGeom>
            <a:avLst/>
            <a:gdLst/>
            <a:ahLst/>
            <a:cxnLst/>
            <a:rect l="l" t="t" r="r" b="b"/>
            <a:pathLst>
              <a:path w="4762378" h="4762378">
                <a:moveTo>
                  <a:pt x="223114" y="1374892"/>
                </a:moveTo>
                <a:cubicBezTo>
                  <a:pt x="617403" y="529346"/>
                  <a:pt x="1469075" y="-8138"/>
                  <a:pt x="2401946" y="91"/>
                </a:cubicBezTo>
                <a:cubicBezTo>
                  <a:pt x="3334908" y="8230"/>
                  <a:pt x="4177071" y="560436"/>
                  <a:pt x="4556547" y="1412748"/>
                </a:cubicBezTo>
                <a:lnTo>
                  <a:pt x="4396710" y="1726296"/>
                </a:lnTo>
                <a:lnTo>
                  <a:pt x="4077950" y="1625803"/>
                </a:lnTo>
                <a:cubicBezTo>
                  <a:pt x="3781958" y="960943"/>
                  <a:pt x="3125053" y="530261"/>
                  <a:pt x="2397374" y="523951"/>
                </a:cubicBezTo>
                <a:cubicBezTo>
                  <a:pt x="1669786" y="517550"/>
                  <a:pt x="1005474" y="936803"/>
                  <a:pt x="697870" y="1596268"/>
                </a:cubicBezTo>
                <a:lnTo>
                  <a:pt x="564642" y="1289670"/>
                </a:lnTo>
                <a:close/>
              </a:path>
            </a:pathLst>
          </a:custGeom>
          <a:solidFill>
            <a:srgbClr val="F26322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57896" y="1476299"/>
            <a:ext cx="3905128" cy="3905128"/>
          </a:xfrm>
          <a:custGeom>
            <a:avLst/>
            <a:gdLst/>
            <a:ahLst/>
            <a:cxnLst/>
            <a:rect l="l" t="t" r="r" b="b"/>
            <a:pathLst>
              <a:path w="3905128" h="3905128">
                <a:moveTo>
                  <a:pt x="3787445" y="2620396"/>
                </a:moveTo>
                <a:cubicBezTo>
                  <a:pt x="3485144" y="3450854"/>
                  <a:pt x="2662733" y="3974805"/>
                  <a:pt x="1782348" y="3897721"/>
                </a:cubicBezTo>
                <a:cubicBezTo>
                  <a:pt x="901964" y="3820638"/>
                  <a:pt x="183154" y="3161904"/>
                  <a:pt x="29627" y="2291669"/>
                </a:cubicBezTo>
                <a:lnTo>
                  <a:pt x="85954" y="2281794"/>
                </a:lnTo>
                <a:cubicBezTo>
                  <a:pt x="234909" y="3126608"/>
                  <a:pt x="932779" y="3765956"/>
                  <a:pt x="1787378" y="3840754"/>
                </a:cubicBezTo>
                <a:cubicBezTo>
                  <a:pt x="2641976" y="3915552"/>
                  <a:pt x="3440247" y="3406963"/>
                  <a:pt x="3733678" y="2600828"/>
                </a:cubicBezTo>
                <a:close/>
              </a:path>
            </a:pathLst>
          </a:custGeom>
          <a:solidFill>
            <a:srgbClr val="3B6F91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42950" y="876270"/>
            <a:ext cx="514340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ESTUN AUTOMATION  DEEP RESEARCH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742950" y="1809689"/>
            <a:ext cx="6191128" cy="1466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埃斯顿</a:t>
            </a:r>
            <a:endParaRPr lang="en-US" sz="5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规模之后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742950" y="3505078"/>
            <a:ext cx="5905378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盈利修复与估值验证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19787" y="2381189"/>
            <a:ext cx="3809939" cy="1000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150" b="1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10.6%</a:t>
            </a:r>
            <a:endParaRPr lang="en-US" sz="6150" dirty="0"/>
          </a:p>
        </p:txBody>
      </p:sp>
      <p:sp>
        <p:nvSpPr>
          <p:cNvPr id="8" name="Text 6"/>
          <p:cNvSpPr/>
          <p:nvPr/>
        </p:nvSpPr>
        <p:spPr>
          <a:xfrm>
            <a:off x="7953177" y="3571829"/>
            <a:ext cx="3143159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2025年中国工业机器人市场份额</a:t>
            </a:r>
            <a:endParaRPr lang="en-US" sz="128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首次超过四大家族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742950" y="5905378"/>
            <a:ext cx="4590928" cy="0"/>
          </a:xfrm>
          <a:prstGeom prst="line">
            <a:avLst/>
          </a:prstGeom>
          <a:noFill/>
          <a:ln w="28575">
            <a:solidFill>
              <a:srgbClr val="F263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950" y="6076828"/>
            <a:ext cx="3047878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AEBB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研究日期  2026年9月3日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95330"/>
            <a:ext cx="3047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INVESTMENT THESIS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1123889"/>
            <a:ext cx="9905787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规模已经证明，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利润和估值仍在等待证据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6689" y="2724089"/>
            <a:ext cx="10858226" cy="0"/>
          </a:xfrm>
          <a:prstGeom prst="line">
            <a:avLst/>
          </a:prstGeom>
          <a:noFill/>
          <a:ln w="38100">
            <a:solidFill>
              <a:srgbClr val="0919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689" y="3143159"/>
            <a:ext cx="3143159" cy="0"/>
          </a:xfrm>
          <a:prstGeom prst="line">
            <a:avLst/>
          </a:prstGeom>
          <a:noFill/>
          <a:ln w="47625">
            <a:solidFill>
              <a:srgbClr val="0919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6689" y="3381268"/>
            <a:ext cx="6666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919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6689" y="3981389"/>
            <a:ext cx="30478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规模领先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6689" y="4571909"/>
            <a:ext cx="3047878" cy="95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2025年中国市场份额10.6%，连续八年位居国产品牌第一。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1348" y="3143159"/>
            <a:ext cx="3143159" cy="0"/>
          </a:xfrm>
          <a:prstGeom prst="line">
            <a:avLst/>
          </a:prstGeom>
          <a:noFill/>
          <a:ln w="47625">
            <a:solidFill>
              <a:srgbClr val="B63A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1348" y="3381268"/>
            <a:ext cx="6666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1348" y="3981389"/>
            <a:ext cx="30478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利润修复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1348" y="4571909"/>
            <a:ext cx="3047878" cy="95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2026H1扣非净利润0.70亿元，主业净利率仍约2.7%。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6006" y="3143159"/>
            <a:ext cx="3143159" cy="0"/>
          </a:xfrm>
          <a:prstGeom prst="line">
            <a:avLst/>
          </a:prstGeom>
          <a:noFill/>
          <a:ln w="47625">
            <a:solidFill>
              <a:srgbClr val="3B6F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6006" y="3381268"/>
            <a:ext cx="6666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B6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96006" y="3981389"/>
            <a:ext cx="30478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估值前置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96006" y="4571909"/>
            <a:ext cx="3047878" cy="95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按一致预期计算，2026年动态PE约137倍。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95330"/>
            <a:ext cx="3428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CENTRAL TENSION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819120"/>
            <a:ext cx="971522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产业位置与盈利能力尚未处在同一高度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 flipV="1">
            <a:off x="1238189" y="2095530"/>
            <a:ext cx="3714659" cy="3047878"/>
          </a:xfrm>
          <a:prstGeom prst="line">
            <a:avLst/>
          </a:prstGeom>
          <a:noFill/>
          <a:ln w="95250">
            <a:solidFill>
              <a:srgbClr val="3B6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7238848" y="3762299"/>
            <a:ext cx="3714659" cy="1095360"/>
          </a:xfrm>
          <a:prstGeom prst="line">
            <a:avLst/>
          </a:prstGeom>
          <a:noFill/>
          <a:ln w="95250">
            <a:solidFill>
              <a:srgbClr val="F263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2848" y="2095439"/>
            <a:ext cx="2285909" cy="2762220"/>
          </a:xfrm>
          <a:custGeom>
            <a:avLst/>
            <a:gdLst/>
            <a:ahLst/>
            <a:cxnLst/>
            <a:rect l="l" t="t" r="r" b="b"/>
            <a:pathLst>
              <a:path w="2285909" h="2762220">
                <a:moveTo>
                  <a:pt x="0" y="0"/>
                </a:moveTo>
                <a:cubicBezTo>
                  <a:pt x="1143000" y="0"/>
                  <a:pt x="1143000" y="2762220"/>
                  <a:pt x="2285909" y="2762220"/>
                </a:cubicBezTo>
              </a:path>
            </a:pathLst>
          </a:custGeom>
          <a:solidFill>
            <a:srgbClr val="000000">
              <a:alpha val="0"/>
            </a:srgbClr>
          </a:solidFill>
          <a:ln w="28575">
            <a:solidFill>
              <a:srgbClr val="8CA6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143000" y="2476470"/>
            <a:ext cx="342890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10.6%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1181039" y="3447928"/>
            <a:ext cx="171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中国市场份额</a:t>
            </a:r>
            <a:endParaRPr lang="en-US" sz="12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出货量口径已经登顶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715067" y="3000329"/>
            <a:ext cx="323843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约137×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7753198" y="4952848"/>
            <a:ext cx="31431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2026E一致预期PE</a:t>
            </a:r>
            <a:endParaRPr lang="en-US" sz="12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需要未来利润兑现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4810018" y="5429159"/>
            <a:ext cx="2571659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价值兑现距离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2476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DEMAND CURVE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85723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全球需求继续扩张，增长重心转向亚洲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524756" y="533370"/>
            <a:ext cx="2000159" cy="780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480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715226" y="1352489"/>
            <a:ext cx="1809689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2028E全球安装量</a:t>
            </a:r>
            <a:endParaRPr lang="en-US" sz="980" dirty="0"/>
          </a:p>
          <a:p>
            <a:pPr algn="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约70万台</a:t>
            </a:r>
            <a:endParaRPr lang="en-US" sz="98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857329"/>
          <a:ext cx="10820095" cy="371465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6689" y="5810098"/>
            <a:ext cx="10858226" cy="514350"/>
          </a:xfrm>
          <a:prstGeom prst="roundRect">
            <a:avLst>
              <a:gd name="adj" fmla="val 49991"/>
            </a:avLst>
          </a:prstGeom>
          <a:solidFill>
            <a:srgbClr val="09192C"/>
          </a:solidFill>
          <a:ln/>
        </p:spPr>
      </p:sp>
      <p:sp>
        <p:nvSpPr>
          <p:cNvPr id="8" name="Text 5"/>
          <p:cNvSpPr/>
          <p:nvPr/>
        </p:nvSpPr>
        <p:spPr>
          <a:xfrm>
            <a:off x="1047720" y="5905378"/>
            <a:ext cx="1009625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中国、东南亚和印度贡献主要增量，高端汽车与半导体仍决定价值量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32384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LOCALIZATION INFLECTION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72388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国产份额已经越过临界线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66689" y="1714500"/>
            <a:ext cx="3047878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35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57%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685800" y="2781239"/>
            <a:ext cx="4095689" cy="106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2024年本土厂商销量份额首次超过外资。</a:t>
            </a:r>
            <a:endParaRPr lang="en-US" sz="12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量的拐点已经发生，价值量提升仍依赖高端场景突破。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5333878" y="5476707"/>
            <a:ext cx="5905378" cy="0"/>
          </a:xfrm>
          <a:prstGeom prst="line">
            <a:avLst/>
          </a:prstGeom>
          <a:noFill/>
          <a:ln w="28575">
            <a:solidFill>
              <a:srgbClr val="D9DE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1988" y="3762299"/>
            <a:ext cx="1428750" cy="1714500"/>
          </a:xfrm>
          <a:prstGeom prst="roundRect">
            <a:avLst>
              <a:gd name="adj" fmla="val 6669"/>
            </a:avLst>
          </a:prstGeom>
          <a:solidFill>
            <a:srgbClr val="3B6F91"/>
          </a:solidFill>
          <a:ln/>
        </p:spPr>
      </p:sp>
      <p:sp>
        <p:nvSpPr>
          <p:cNvPr id="8" name="Text 6"/>
          <p:cNvSpPr/>
          <p:nvPr/>
        </p:nvSpPr>
        <p:spPr>
          <a:xfrm>
            <a:off x="5571988" y="3762299"/>
            <a:ext cx="1428750" cy="590520"/>
          </a:xfrm>
          <a:prstGeom prst="rect">
            <a:avLst/>
          </a:prstGeom>
          <a:solidFill>
            <a:srgbClr val="3B6F9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63.5万套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71988" y="5714817"/>
            <a:ext cx="142875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2026年1至7月产量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7524598" y="3286079"/>
            <a:ext cx="1428750" cy="2190720"/>
          </a:xfrm>
          <a:prstGeom prst="roundRect">
            <a:avLst>
              <a:gd name="adj" fmla="val 6669"/>
            </a:avLst>
          </a:prstGeom>
          <a:solidFill>
            <a:srgbClr val="F26322"/>
          </a:solidFill>
          <a:ln/>
        </p:spPr>
      </p:sp>
      <p:sp>
        <p:nvSpPr>
          <p:cNvPr id="11" name="Text 9"/>
          <p:cNvSpPr/>
          <p:nvPr/>
        </p:nvSpPr>
        <p:spPr>
          <a:xfrm>
            <a:off x="7524598" y="3286079"/>
            <a:ext cx="1428750" cy="590520"/>
          </a:xfrm>
          <a:prstGeom prst="rect">
            <a:avLst/>
          </a:prstGeom>
          <a:solidFill>
            <a:srgbClr val="F263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+28.5%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24598" y="5714817"/>
            <a:ext cx="142875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同期产量增速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9477116" y="2762220"/>
            <a:ext cx="1428750" cy="2714579"/>
          </a:xfrm>
          <a:prstGeom prst="roundRect">
            <a:avLst>
              <a:gd name="adj" fmla="val 6669"/>
            </a:avLst>
          </a:prstGeom>
          <a:solidFill>
            <a:srgbClr val="09192C"/>
          </a:solidFill>
          <a:ln/>
        </p:spPr>
      </p:sp>
      <p:sp>
        <p:nvSpPr>
          <p:cNvPr id="14" name="Text 12"/>
          <p:cNvSpPr/>
          <p:nvPr/>
        </p:nvSpPr>
        <p:spPr>
          <a:xfrm>
            <a:off x="9477116" y="2762220"/>
            <a:ext cx="1428750" cy="590520"/>
          </a:xfrm>
          <a:prstGeom prst="rect">
            <a:avLst/>
          </a:prstGeom>
          <a:solidFill>
            <a:srgbClr val="0919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62.9亿元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77116" y="5714817"/>
            <a:ext cx="142875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2026H1出口额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32384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COMPETITIVE FRONTIER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78103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国产龙头进入高端场景攻坚区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619220" y="5524348"/>
            <a:ext cx="9143726" cy="0"/>
          </a:xfrm>
          <a:prstGeom prst="line">
            <a:avLst/>
          </a:prstGeom>
          <a:noFill/>
          <a:ln w="28575">
            <a:solidFill>
              <a:srgbClr val="09192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1619220" y="1714409"/>
            <a:ext cx="0" cy="3809939"/>
          </a:xfrm>
          <a:prstGeom prst="line">
            <a:avLst/>
          </a:prstGeom>
          <a:noFill/>
          <a:ln w="28575">
            <a:solidFill>
              <a:srgbClr val="09192C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23860" y="1352489"/>
            <a:ext cx="219072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高端工艺与可靠性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9715226" y="5543367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规模与本土份额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1619220" y="1714500"/>
            <a:ext cx="9143726" cy="3809939"/>
          </a:xfrm>
          <a:prstGeom prst="rect">
            <a:avLst/>
          </a:prstGeom>
          <a:solidFill>
            <a:srgbClr val="FFFFFF">
              <a:alpha val="50000"/>
            </a:srgbClr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1128" y="1714500"/>
            <a:ext cx="0" cy="3809939"/>
          </a:xfrm>
          <a:prstGeom prst="line">
            <a:avLst/>
          </a:prstGeom>
          <a:noFill/>
          <a:ln w="19050">
            <a:solidFill>
              <a:srgbClr val="D9DEE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619220" y="3619378"/>
            <a:ext cx="9143726" cy="0"/>
          </a:xfrm>
          <a:prstGeom prst="line">
            <a:avLst/>
          </a:prstGeom>
          <a:noFill/>
          <a:ln w="19050">
            <a:solidFill>
              <a:srgbClr val="D9DEE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953177" y="2095439"/>
            <a:ext cx="285750" cy="285750"/>
          </a:xfrm>
          <a:prstGeom prst="ellipse">
            <a:avLst/>
          </a:prstGeom>
          <a:solidFill>
            <a:srgbClr val="09192C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3227" y="2076420"/>
            <a:ext cx="1809689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四大家族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7524598" y="3238439"/>
            <a:ext cx="285750" cy="285750"/>
          </a:xfrm>
          <a:prstGeom prst="ellipse">
            <a:avLst/>
          </a:prstGeom>
          <a:solidFill>
            <a:srgbClr val="F26322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24556" y="3219328"/>
            <a:ext cx="1809689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埃斯顿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524427" y="3905128"/>
            <a:ext cx="285750" cy="285750"/>
          </a:xfrm>
          <a:prstGeom prst="ellipse">
            <a:avLst/>
          </a:prstGeom>
          <a:solidFill>
            <a:srgbClr val="3B6F91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4477" y="3886109"/>
            <a:ext cx="1809689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汇川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4190878" y="4476628"/>
            <a:ext cx="285750" cy="285750"/>
          </a:xfrm>
          <a:prstGeom prst="ellipse">
            <a:avLst/>
          </a:prstGeom>
          <a:solidFill>
            <a:srgbClr val="8CA6B8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928" y="4457609"/>
            <a:ext cx="1809689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国产第二梯队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3286079" y="4857659"/>
            <a:ext cx="285750" cy="285750"/>
          </a:xfrm>
          <a:prstGeom prst="ellipse">
            <a:avLst/>
          </a:prstGeom>
          <a:solidFill>
            <a:srgbClr val="C7D1D9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6038" y="4838548"/>
            <a:ext cx="1809689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协作与新锐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667348" y="5905378"/>
            <a:ext cx="4095689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高端仍由工艺数据库和可靠性定义门槛</a:t>
            </a:r>
            <a:endParaRPr lang="en-US" sz="11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32384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 VERSUS VALUE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85723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出货登顶与收入第六可以同时成立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00079" y="1809689"/>
            <a:ext cx="4000409" cy="3428909"/>
          </a:xfrm>
          <a:prstGeom prst="roundRect">
            <a:avLst>
              <a:gd name="adj" fmla="val 722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28750" y="2190720"/>
            <a:ext cx="3143159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中国出货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428750" y="2952689"/>
            <a:ext cx="3143159" cy="104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150" b="1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</a:t>
            </a:r>
            <a:endParaRPr lang="en-US" sz="6150" dirty="0"/>
          </a:p>
        </p:txBody>
      </p:sp>
      <p:sp>
        <p:nvSpPr>
          <p:cNvPr id="7" name="Text 5"/>
          <p:cNvSpPr/>
          <p:nvPr/>
        </p:nvSpPr>
        <p:spPr>
          <a:xfrm>
            <a:off x="1523939" y="4333799"/>
            <a:ext cx="2952689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AEBB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2025年市场份额10.6%</a:t>
            </a:r>
            <a:endParaRPr lang="en-US" sz="98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AEBB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规模优势已经得到验证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7191207" y="2381189"/>
            <a:ext cx="4000409" cy="2857409"/>
          </a:xfrm>
          <a:prstGeom prst="roundRect">
            <a:avLst>
              <a:gd name="adj" fmla="val 866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9787" y="2714579"/>
            <a:ext cx="3143159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全球收入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7619787" y="3333628"/>
            <a:ext cx="3143159" cy="95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715067" y="4428988"/>
            <a:ext cx="2952689" cy="55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AEBB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2024年收入口径</a:t>
            </a:r>
            <a:endParaRPr lang="en-US" sz="98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AEBB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全球份额约1.7%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95768" y="3428909"/>
            <a:ext cx="2000159" cy="381030"/>
          </a:xfrm>
          <a:prstGeom prst="line">
            <a:avLst/>
          </a:prstGeom>
          <a:noFill/>
          <a:ln w="47625">
            <a:solidFill>
              <a:srgbClr val="F26322"/>
            </a:solidFill>
            <a:prstDash val="solid"/>
            <a:tailEnd type="stealth"/>
          </a:ln>
        </p:spPr>
      </p:sp>
      <p:sp>
        <p:nvSpPr>
          <p:cNvPr id="13" name="Text 11"/>
          <p:cNvSpPr/>
          <p:nvPr/>
        </p:nvSpPr>
        <p:spPr>
          <a:xfrm>
            <a:off x="4762378" y="5476707"/>
            <a:ext cx="26669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高端化决定均价和利润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2857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SPINE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885806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一条技术主轴连接部件、机器人与场景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3000" y="3333628"/>
            <a:ext cx="9905787" cy="0"/>
          </a:xfrm>
          <a:prstGeom prst="line">
            <a:avLst/>
          </a:prstGeom>
          <a:noFill/>
          <a:ln w="66675">
            <a:solidFill>
              <a:srgbClr val="09192C"/>
            </a:solidFill>
            <a:prstDash val="solid"/>
            <a:tailEnd type="stealth"/>
          </a:ln>
        </p:spPr>
      </p:sp>
      <p:sp>
        <p:nvSpPr>
          <p:cNvPr id="5" name="Shape 3"/>
          <p:cNvSpPr/>
          <p:nvPr/>
        </p:nvSpPr>
        <p:spPr>
          <a:xfrm>
            <a:off x="1438260" y="2962199"/>
            <a:ext cx="742950" cy="742950"/>
          </a:xfrm>
          <a:prstGeom prst="ellipse">
            <a:avLst/>
          </a:prstGeom>
          <a:solidFill>
            <a:srgbClr val="09192C"/>
          </a:solidFill>
          <a:ln w="476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8260" y="2962199"/>
            <a:ext cx="742950" cy="742950"/>
          </a:xfrm>
          <a:prstGeom prst="rect">
            <a:avLst/>
          </a:prstGeom>
          <a:solidFill>
            <a:srgbClr val="0919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3952768"/>
            <a:ext cx="1428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核心部件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4524268"/>
            <a:ext cx="1428750" cy="95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伺服系统</a:t>
            </a:r>
            <a:endParaRPr lang="en-US" sz="113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</a:t>
            </a:r>
            <a:endParaRPr lang="en-US" sz="113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009918" y="2962199"/>
            <a:ext cx="742950" cy="742950"/>
          </a:xfrm>
          <a:prstGeom prst="ellipse">
            <a:avLst/>
          </a:prstGeom>
          <a:solidFill>
            <a:srgbClr val="F26322"/>
          </a:solidFill>
          <a:ln w="476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9918" y="2962199"/>
            <a:ext cx="742950" cy="742950"/>
          </a:xfrm>
          <a:prstGeom prst="rect">
            <a:avLst/>
          </a:prstGeom>
          <a:solidFill>
            <a:srgbClr val="F263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714659" y="3952768"/>
            <a:ext cx="1428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工业机器人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714659" y="4524268"/>
            <a:ext cx="1428750" cy="95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6kg至1200kg</a:t>
            </a:r>
            <a:endParaRPr lang="en-US" sz="113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覆盖焊接搬运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581577" y="2962199"/>
            <a:ext cx="742950" cy="742950"/>
          </a:xfrm>
          <a:prstGeom prst="ellipse">
            <a:avLst/>
          </a:prstGeom>
          <a:solidFill>
            <a:srgbClr val="3B6F91"/>
          </a:solidFill>
          <a:ln w="476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1577" y="2962199"/>
            <a:ext cx="742950" cy="742950"/>
          </a:xfrm>
          <a:prstGeom prst="rect">
            <a:avLst/>
          </a:prstGeom>
          <a:solidFill>
            <a:srgbClr val="3B6F9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286317" y="3952768"/>
            <a:ext cx="1428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智能制造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286317" y="4524268"/>
            <a:ext cx="1428750" cy="95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</a:t>
            </a:r>
            <a:endParaRPr lang="en-US" sz="113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汽车与锂电场景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9153327" y="2962199"/>
            <a:ext cx="742950" cy="742950"/>
          </a:xfrm>
          <a:prstGeom prst="ellipse">
            <a:avLst/>
          </a:prstGeom>
          <a:solidFill>
            <a:srgbClr val="5B6879"/>
          </a:solidFill>
          <a:ln w="476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3327" y="2962199"/>
            <a:ext cx="742950" cy="742950"/>
          </a:xfrm>
          <a:prstGeom prst="rect">
            <a:avLst/>
          </a:prstGeom>
          <a:solidFill>
            <a:srgbClr val="5B68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858067" y="3952768"/>
            <a:ext cx="1428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858067" y="4524268"/>
            <a:ext cx="1428750" cy="95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协作、人形</a:t>
            </a:r>
            <a:endParaRPr lang="en-US" sz="113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工业场景智能体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2857409" y="5810098"/>
            <a:ext cx="6476878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全产业链的价值不在“品类多”，而在关键环节可以共同迭代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2666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DECADES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85723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三次能力跃迁把公司推向全场景平台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47720" y="2428829"/>
            <a:ext cx="10096256" cy="1714500"/>
          </a:xfrm>
          <a:custGeom>
            <a:avLst/>
            <a:gdLst/>
            <a:ahLst/>
            <a:cxnLst/>
            <a:rect l="l" t="t" r="r" b="b"/>
            <a:pathLst>
              <a:path w="10096256" h="1714500">
                <a:moveTo>
                  <a:pt x="0" y="1381110"/>
                </a:moveTo>
                <a:cubicBezTo>
                  <a:pt x="857250" y="1381110"/>
                  <a:pt x="1619220" y="780989"/>
                  <a:pt x="2666939" y="666689"/>
                </a:cubicBezTo>
                <a:cubicBezTo>
                  <a:pt x="3524189" y="552480"/>
                  <a:pt x="4333799" y="1190640"/>
                  <a:pt x="5238598" y="1190640"/>
                </a:cubicBezTo>
                <a:cubicBezTo>
                  <a:pt x="6000567" y="1190640"/>
                  <a:pt x="6572067" y="400050"/>
                  <a:pt x="7429317" y="381030"/>
                </a:cubicBezTo>
                <a:cubicBezTo>
                  <a:pt x="8381756" y="361920"/>
                  <a:pt x="9239006" y="0"/>
                  <a:pt x="10096256" y="0"/>
                </a:cubicBezTo>
              </a:path>
            </a:pathLst>
          </a:custGeom>
          <a:solidFill>
            <a:srgbClr val="000000">
              <a:alpha val="0"/>
            </a:srgbClr>
          </a:solidFill>
          <a:ln w="47625">
            <a:solidFill>
              <a:srgbClr val="3B6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6760" y="3628979"/>
            <a:ext cx="361920" cy="361920"/>
          </a:xfrm>
          <a:prstGeom prst="ellipse">
            <a:avLst/>
          </a:prstGeom>
          <a:solidFill>
            <a:srgbClr val="F2632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829" y="3095518"/>
            <a:ext cx="180968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40" y="4238518"/>
            <a:ext cx="20001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运动控制起步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0" y="4619549"/>
            <a:ext cx="2095439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交流伺服电机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33699" y="2914559"/>
            <a:ext cx="361920" cy="361920"/>
          </a:xfrm>
          <a:prstGeom prst="ellipse">
            <a:avLst/>
          </a:prstGeom>
          <a:solidFill>
            <a:srgbClr val="F2632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9768" y="2381189"/>
            <a:ext cx="180968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14579" y="3524189"/>
            <a:ext cx="20001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机器人本体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2666939" y="3905128"/>
            <a:ext cx="2095439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推出自有品牌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05357" y="3438418"/>
            <a:ext cx="361920" cy="361920"/>
          </a:xfrm>
          <a:prstGeom prst="ellipse">
            <a:avLst/>
          </a:prstGeom>
          <a:solidFill>
            <a:srgbClr val="F2632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1518" y="2905049"/>
            <a:ext cx="180968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2017—2020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6238" y="4048049"/>
            <a:ext cx="20001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全球并购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5238598" y="4428988"/>
            <a:ext cx="2095439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TRIO、M.A.i、Cloos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96077" y="2628809"/>
            <a:ext cx="361920" cy="361920"/>
          </a:xfrm>
          <a:prstGeom prst="ellipse">
            <a:avLst/>
          </a:prstGeom>
          <a:solidFill>
            <a:srgbClr val="F2632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2146" y="2095439"/>
            <a:ext cx="180968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76957" y="3238439"/>
            <a:ext cx="20001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A+H与具身智能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7429317" y="3619378"/>
            <a:ext cx="2095439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港股上市并拟收购酷卓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32384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FINANCIAL DIVERGENCE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85723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收入向上，利润仍在寻找稳定斜率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04820" y="1571579"/>
            <a:ext cx="114300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919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66689" y="1904970"/>
          <a:ext cx="5905378" cy="371465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7817" y="1571579"/>
            <a:ext cx="114300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</a:t>
            </a:r>
            <a:endParaRPr lang="en-US" sz="13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762537" y="1904970"/>
          <a:ext cx="4762378" cy="371465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572067" y="1762049"/>
            <a:ext cx="0" cy="4048049"/>
          </a:xfrm>
          <a:prstGeom prst="line">
            <a:avLst/>
          </a:prstGeom>
          <a:noFill/>
          <a:ln w="19050">
            <a:solidFill>
              <a:srgbClr val="D9DEE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66689" y="5953018"/>
            <a:ext cx="1085822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估值依赖正常化利润，而不是收入规模本身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2857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2024 CRATER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72388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四股压力在同一年汇合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3905128" y="1523939"/>
            <a:ext cx="4381348" cy="4381348"/>
          </a:xfrm>
          <a:custGeom>
            <a:avLst/>
            <a:gdLst/>
            <a:ahLst/>
            <a:cxnLst/>
            <a:rect l="l" t="t" r="r" b="b"/>
            <a:pathLst>
              <a:path w="4381348" h="4381348">
                <a:moveTo>
                  <a:pt x="8412" y="1999701"/>
                </a:moveTo>
                <a:cubicBezTo>
                  <a:pt x="94732" y="1011966"/>
                  <a:pt x="833841" y="205466"/>
                  <a:pt x="1810238" y="33284"/>
                </a:cubicBezTo>
                <a:lnTo>
                  <a:pt x="1945935" y="802477"/>
                </a:lnTo>
                <a:cubicBezTo>
                  <a:pt x="1317559" y="913211"/>
                  <a:pt x="841980" y="1432225"/>
                  <a:pt x="786384" y="2067824"/>
                </a:cubicBezTo>
                <a:close/>
              </a:path>
            </a:pathLst>
          </a:custGeom>
          <a:solidFill>
            <a:srgbClr val="F26322"/>
          </a:solidFill>
          <a:ln/>
        </p:spPr>
      </p:sp>
      <p:sp>
        <p:nvSpPr>
          <p:cNvPr id="5" name="Shape 3"/>
          <p:cNvSpPr/>
          <p:nvPr/>
        </p:nvSpPr>
        <p:spPr>
          <a:xfrm>
            <a:off x="3905128" y="1523939"/>
            <a:ext cx="4381348" cy="4381348"/>
          </a:xfrm>
          <a:custGeom>
            <a:avLst/>
            <a:gdLst/>
            <a:ahLst/>
            <a:cxnLst/>
            <a:rect l="l" t="t" r="r" b="b"/>
            <a:pathLst>
              <a:path w="4381348" h="4381348">
                <a:moveTo>
                  <a:pt x="2381646" y="8412"/>
                </a:moveTo>
                <a:cubicBezTo>
                  <a:pt x="3369381" y="94732"/>
                  <a:pt x="4175973" y="833841"/>
                  <a:pt x="4348155" y="1810238"/>
                </a:cubicBezTo>
                <a:lnTo>
                  <a:pt x="3578962" y="1945935"/>
                </a:lnTo>
                <a:cubicBezTo>
                  <a:pt x="3468136" y="1317559"/>
                  <a:pt x="2949123" y="841980"/>
                  <a:pt x="2313523" y="786384"/>
                </a:cubicBezTo>
                <a:close/>
              </a:path>
            </a:pathLst>
          </a:custGeom>
          <a:solidFill>
            <a:srgbClr val="3B6F91"/>
          </a:solidFill>
          <a:ln/>
        </p:spPr>
      </p:sp>
      <p:sp>
        <p:nvSpPr>
          <p:cNvPr id="6" name="Shape 4"/>
          <p:cNvSpPr/>
          <p:nvPr/>
        </p:nvSpPr>
        <p:spPr>
          <a:xfrm>
            <a:off x="3905128" y="1523939"/>
            <a:ext cx="4381348" cy="4381348"/>
          </a:xfrm>
          <a:custGeom>
            <a:avLst/>
            <a:gdLst/>
            <a:ahLst/>
            <a:cxnLst/>
            <a:rect l="l" t="t" r="r" b="b"/>
            <a:pathLst>
              <a:path w="4381348" h="4381348">
                <a:moveTo>
                  <a:pt x="4373027" y="2381646"/>
                </a:moveTo>
                <a:cubicBezTo>
                  <a:pt x="4286616" y="3369381"/>
                  <a:pt x="3547598" y="4175973"/>
                  <a:pt x="2571110" y="4348155"/>
                </a:cubicBezTo>
                <a:lnTo>
                  <a:pt x="2435504" y="3578962"/>
                </a:lnTo>
                <a:cubicBezTo>
                  <a:pt x="3063789" y="3468136"/>
                  <a:pt x="3539368" y="2949123"/>
                  <a:pt x="3595055" y="2313523"/>
                </a:cubicBezTo>
                <a:close/>
              </a:path>
            </a:pathLst>
          </a:custGeom>
          <a:solidFill>
            <a:srgbClr val="8CA6B8"/>
          </a:solidFill>
          <a:ln/>
        </p:spPr>
      </p:sp>
      <p:sp>
        <p:nvSpPr>
          <p:cNvPr id="7" name="Shape 5"/>
          <p:cNvSpPr/>
          <p:nvPr/>
        </p:nvSpPr>
        <p:spPr>
          <a:xfrm>
            <a:off x="3905128" y="1523939"/>
            <a:ext cx="4381348" cy="4381348"/>
          </a:xfrm>
          <a:custGeom>
            <a:avLst/>
            <a:gdLst/>
            <a:ahLst/>
            <a:cxnLst/>
            <a:rect l="l" t="t" r="r" b="b"/>
            <a:pathLst>
              <a:path w="4381348" h="4381348">
                <a:moveTo>
                  <a:pt x="1999701" y="4373027"/>
                </a:moveTo>
                <a:cubicBezTo>
                  <a:pt x="1011966" y="4286616"/>
                  <a:pt x="205466" y="3547598"/>
                  <a:pt x="33284" y="2571110"/>
                </a:cubicBezTo>
                <a:lnTo>
                  <a:pt x="802477" y="2435504"/>
                </a:lnTo>
                <a:cubicBezTo>
                  <a:pt x="913211" y="3063789"/>
                  <a:pt x="1432225" y="3539368"/>
                  <a:pt x="2067824" y="3595055"/>
                </a:cubicBezTo>
                <a:close/>
              </a:path>
            </a:pathLst>
          </a:custGeom>
          <a:solidFill>
            <a:srgbClr val="C7D1D9"/>
          </a:solidFill>
          <a:ln/>
        </p:spPr>
      </p:sp>
      <p:sp>
        <p:nvSpPr>
          <p:cNvPr id="8" name="Shape 6"/>
          <p:cNvSpPr/>
          <p:nvPr/>
        </p:nvSpPr>
        <p:spPr>
          <a:xfrm>
            <a:off x="4914809" y="2533620"/>
            <a:ext cx="2362170" cy="2362170"/>
          </a:xfrm>
          <a:prstGeom prst="ellipse">
            <a:avLst/>
          </a:prstGeom>
          <a:solidFill>
            <a:srgbClr val="09192C"/>
          </a:solidFill>
          <a:ln w="1905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4809" y="3333628"/>
            <a:ext cx="23621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-8.10亿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5143409" y="4190878"/>
            <a:ext cx="19049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AEBB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2024年归母净利润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57250" y="2476470"/>
            <a:ext cx="2857409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收入下降13.8%</a:t>
            </a:r>
            <a:endParaRPr lang="en-US" sz="113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毛利率降至28.3%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8429396" y="2476470"/>
            <a:ext cx="2952689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商誉减值3.45亿元</a:t>
            </a:r>
            <a:endParaRPr lang="en-US" sz="113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其他资产减值约1.2亿元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904890" y="5000488"/>
            <a:ext cx="28574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研发、销售与管理费用刚性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8572317" y="4905207"/>
            <a:ext cx="2809768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递延所得税资产减计</a:t>
            </a:r>
            <a:endParaRPr lang="en-US" sz="113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放大亏损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3238439" y="6048207"/>
            <a:ext cx="5714817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2026H1商誉仍有9.75亿元，出清并不彻底</a:t>
            </a:r>
            <a:endParaRPr lang="en-US" sz="12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2857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EARNINGS QUALITY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876278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报表利润与主业利润之间还有一道桥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57250" y="2095439"/>
            <a:ext cx="2857409" cy="2381189"/>
          </a:xfrm>
          <a:prstGeom prst="roundRect">
            <a:avLst>
              <a:gd name="adj" fmla="val 7999"/>
            </a:avLst>
          </a:prstGeom>
          <a:solidFill>
            <a:srgbClr val="09192C"/>
          </a:solidFill>
          <a:ln/>
        </p:spPr>
      </p:sp>
      <p:sp>
        <p:nvSpPr>
          <p:cNvPr id="5" name="Text 3"/>
          <p:cNvSpPr/>
          <p:nvPr/>
        </p:nvSpPr>
        <p:spPr>
          <a:xfrm>
            <a:off x="1190640" y="2571659"/>
            <a:ext cx="2190720" cy="81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1.61亿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285829" y="3524189"/>
            <a:ext cx="2000159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归母净利润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09939" y="3286079"/>
            <a:ext cx="2381189" cy="0"/>
          </a:xfrm>
          <a:prstGeom prst="line">
            <a:avLst/>
          </a:prstGeom>
          <a:noFill/>
          <a:ln w="57150">
            <a:solidFill>
              <a:srgbClr val="F26322"/>
            </a:solidFill>
            <a:prstDash val="solid"/>
            <a:tailEnd type="stealth"/>
          </a:ln>
        </p:spPr>
      </p:sp>
      <p:sp>
        <p:nvSpPr>
          <p:cNvPr id="8" name="Text 6"/>
          <p:cNvSpPr/>
          <p:nvPr/>
        </p:nvSpPr>
        <p:spPr>
          <a:xfrm>
            <a:off x="4143238" y="2571659"/>
            <a:ext cx="1714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-0.91亿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000409" y="3619378"/>
            <a:ext cx="2000159" cy="64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非经常性损益</a:t>
            </a:r>
            <a:endParaRPr lang="en-US" sz="98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含约0.995亿元公允价值变动收益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476878" y="2333549"/>
            <a:ext cx="2476470" cy="1904970"/>
          </a:xfrm>
          <a:prstGeom prst="roundRect">
            <a:avLst>
              <a:gd name="adj" fmla="val 9999"/>
            </a:avLst>
          </a:prstGeom>
          <a:solidFill>
            <a:srgbClr val="F26322"/>
          </a:solidFill>
          <a:ln/>
        </p:spPr>
      </p:sp>
      <p:sp>
        <p:nvSpPr>
          <p:cNvPr id="11" name="Text 9"/>
          <p:cNvSpPr/>
          <p:nvPr/>
        </p:nvSpPr>
        <p:spPr>
          <a:xfrm>
            <a:off x="6762537" y="2714579"/>
            <a:ext cx="1904970" cy="723839"/>
          </a:xfrm>
          <a:prstGeom prst="rect">
            <a:avLst/>
          </a:prstGeom>
          <a:solidFill>
            <a:srgbClr val="F26322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0.70亿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7817" y="3524189"/>
            <a:ext cx="1714500" cy="361920"/>
          </a:xfrm>
          <a:prstGeom prst="rect">
            <a:avLst/>
          </a:prstGeom>
          <a:solidFill>
            <a:srgbClr val="F26322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扣非净利润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48537" y="3286079"/>
            <a:ext cx="2000159" cy="0"/>
          </a:xfrm>
          <a:prstGeom prst="line">
            <a:avLst/>
          </a:prstGeom>
          <a:noFill/>
          <a:ln w="47625">
            <a:solidFill>
              <a:srgbClr val="09192C"/>
            </a:solidFill>
            <a:prstDash val="solid"/>
            <a:tailEnd type="stealth"/>
          </a:ln>
        </p:spPr>
      </p:sp>
      <p:sp>
        <p:nvSpPr>
          <p:cNvPr id="14" name="Text 12"/>
          <p:cNvSpPr/>
          <p:nvPr/>
        </p:nvSpPr>
        <p:spPr>
          <a:xfrm>
            <a:off x="9334287" y="2571659"/>
            <a:ext cx="16192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0919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约2.7%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334287" y="3619378"/>
            <a:ext cx="161922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主业净利率</a:t>
            </a:r>
            <a:endParaRPr lang="en-US" sz="98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持续性仍需季度验证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809689" y="5429159"/>
            <a:ext cx="8572317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方向已经改善，但利润含金量不能只看同比增速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2857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GEOGRAPHIC MIX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85723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海外收入占比不高，却贡献更厚的毛利</a:t>
            </a:r>
            <a:endParaRPr lang="en-US" sz="25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66689" y="1714500"/>
          <a:ext cx="4952848" cy="40004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91128" y="1714500"/>
            <a:ext cx="0" cy="4095689"/>
          </a:xfrm>
          <a:prstGeom prst="line">
            <a:avLst/>
          </a:prstGeom>
          <a:noFill/>
          <a:ln w="19050">
            <a:solidFill>
              <a:srgbClr val="D9DE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00738" y="1952610"/>
            <a:ext cx="1428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53098" y="2381189"/>
            <a:ext cx="342890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435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14.63亿</a:t>
            </a:r>
            <a:endParaRPr lang="en-US" sz="4350" dirty="0"/>
          </a:p>
        </p:txBody>
      </p:sp>
      <p:sp>
        <p:nvSpPr>
          <p:cNvPr id="8" name="Text 5"/>
          <p:cNvSpPr/>
          <p:nvPr/>
        </p:nvSpPr>
        <p:spPr>
          <a:xfrm>
            <a:off x="7000738" y="3524189"/>
            <a:ext cx="4095689" cy="133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德国Cloos带来的海外业务具有更高毛利率。</a:t>
            </a:r>
            <a:endParaRPr lang="en-US" sz="12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海外改善会直接抬升综合盈利能力，但同时保留商誉和经营波动风险。</a:t>
            </a:r>
            <a:endParaRPr lang="en-US" sz="1280" dirty="0"/>
          </a:p>
        </p:txBody>
      </p:sp>
      <p:sp>
        <p:nvSpPr>
          <p:cNvPr id="9" name="Text 6"/>
          <p:cNvSpPr/>
          <p:nvPr/>
        </p:nvSpPr>
        <p:spPr>
          <a:xfrm>
            <a:off x="7000738" y="5190957"/>
            <a:ext cx="38099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919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结构比规模更重要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32384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 SHEET RESET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80960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H股募资把杠杆拉回更可控区间</a:t>
            </a:r>
            <a:endParaRPr lang="en-US" sz="25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66689" y="1762049"/>
          <a:ext cx="6667348" cy="40004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0348" y="1952610"/>
            <a:ext cx="3238439" cy="2381189"/>
          </a:xfrm>
          <a:prstGeom prst="roundRect">
            <a:avLst>
              <a:gd name="adj" fmla="val 11202"/>
            </a:avLst>
          </a:prstGeom>
          <a:solidFill>
            <a:srgbClr val="F26322"/>
          </a:solidFill>
          <a:ln/>
        </p:spPr>
      </p:sp>
      <p:sp>
        <p:nvSpPr>
          <p:cNvPr id="6" name="Text 3"/>
          <p:cNvSpPr/>
          <p:nvPr/>
        </p:nvSpPr>
        <p:spPr>
          <a:xfrm>
            <a:off x="8143646" y="2428829"/>
            <a:ext cx="2571659" cy="742950"/>
          </a:xfrm>
          <a:prstGeom prst="rect">
            <a:avLst/>
          </a:prstGeom>
          <a:solidFill>
            <a:srgbClr val="F26322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14.12亿港元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8191287" y="3352739"/>
            <a:ext cx="2476470" cy="419070"/>
          </a:xfrm>
          <a:prstGeom prst="rect">
            <a:avLst/>
          </a:prstGeom>
          <a:solidFill>
            <a:srgbClr val="F26322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2026年3月H股净募资</a:t>
            </a:r>
            <a:endParaRPr lang="en-US" sz="1280" dirty="0"/>
          </a:p>
        </p:txBody>
      </p:sp>
      <p:sp>
        <p:nvSpPr>
          <p:cNvPr id="8" name="Shape 5"/>
          <p:cNvSpPr/>
          <p:nvPr/>
        </p:nvSpPr>
        <p:spPr>
          <a:xfrm flipH="1">
            <a:off x="7334037" y="4428988"/>
            <a:ext cx="2095439" cy="904890"/>
          </a:xfrm>
          <a:prstGeom prst="line">
            <a:avLst/>
          </a:prstGeom>
          <a:noFill/>
          <a:ln w="47625">
            <a:solidFill>
              <a:srgbClr val="F26322"/>
            </a:solidFill>
            <a:prstDash val="solid"/>
            <a:tailEnd type="stealth"/>
          </a:ln>
        </p:spPr>
      </p:sp>
      <p:sp>
        <p:nvSpPr>
          <p:cNvPr id="9" name="Text 6"/>
          <p:cNvSpPr/>
          <p:nvPr/>
        </p:nvSpPr>
        <p:spPr>
          <a:xfrm>
            <a:off x="7857896" y="5467198"/>
            <a:ext cx="3238439" cy="106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2026H1资产负债率降至68.2%，货币资金升至10.89亿元。财务费用随借款规模下降。</a:t>
            </a:r>
            <a:endParaRPr lang="en-US" sz="12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37146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CONCENTRATION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80960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大客户带来规模，也放大订单波动</a:t>
            </a:r>
            <a:endParaRPr lang="en-US" sz="25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66689" y="1762049"/>
          <a:ext cx="6857817" cy="3905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34207" y="1952610"/>
            <a:ext cx="266693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435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37.2%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8762787" y="2905049"/>
            <a:ext cx="223836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2025年前三季度</a:t>
            </a:r>
            <a:endParaRPr lang="en-US" sz="980" dirty="0"/>
          </a:p>
          <a:p>
            <a:pPr algn="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前五大客户占比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8572317" y="3762299"/>
            <a:ext cx="2476470" cy="0"/>
          </a:xfrm>
          <a:prstGeom prst="line">
            <a:avLst/>
          </a:prstGeom>
          <a:noFill/>
          <a:ln w="28575">
            <a:solidFill>
              <a:srgbClr val="0919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34207" y="4095689"/>
            <a:ext cx="2714579" cy="123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新能源龙头扩产可以快速放量；客户资本开支变化也会更快传导到收入和回款。</a:t>
            </a:r>
            <a:endParaRPr lang="en-US" sz="12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>
            <a:fillRect/>
          </a:stretch>
        </p:blipFill>
        <p:spPr>
          <a:xfrm>
            <a:off x="6857817" y="0"/>
            <a:ext cx="5333878" cy="68578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76878" y="0"/>
            <a:ext cx="1238189" cy="6857817"/>
          </a:xfrm>
          <a:prstGeom prst="rect">
            <a:avLst/>
          </a:prstGeom>
          <a:solidFill>
            <a:srgbClr val="F6F4EF">
              <a:alpha val="87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66689" y="495330"/>
            <a:ext cx="3428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M&amp;A PRODUCT SPECTRUM</a:t>
            </a:r>
            <a:endParaRPr lang="en-US" sz="830" dirty="0"/>
          </a:p>
        </p:txBody>
      </p:sp>
      <p:sp>
        <p:nvSpPr>
          <p:cNvPr id="5" name="Text 2"/>
          <p:cNvSpPr/>
          <p:nvPr/>
        </p:nvSpPr>
        <p:spPr>
          <a:xfrm>
            <a:off x="666689" y="819120"/>
            <a:ext cx="5714817" cy="8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酷卓把产品边界推向协作与人形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666689" y="1866839"/>
            <a:ext cx="5333878" cy="1104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拟以4.87亿元收购酷卓100%股权。标的拥有协作机器人、复合移动机器人和两代人形机器人，但仍处投入期。</a:t>
            </a:r>
            <a:endParaRPr lang="en-US" sz="1280" dirty="0"/>
          </a:p>
        </p:txBody>
      </p:sp>
      <p:sp>
        <p:nvSpPr>
          <p:cNvPr id="7" name="Shape 4"/>
          <p:cNvSpPr/>
          <p:nvPr/>
        </p:nvSpPr>
        <p:spPr>
          <a:xfrm>
            <a:off x="666689" y="3352739"/>
            <a:ext cx="3047878" cy="495330"/>
          </a:xfrm>
          <a:prstGeom prst="roundRect">
            <a:avLst>
              <a:gd name="adj" fmla="val 15378"/>
            </a:avLst>
          </a:prstGeom>
          <a:solidFill>
            <a:srgbClr val="09192C"/>
          </a:solidFill>
          <a:ln/>
        </p:spPr>
      </p:sp>
      <p:sp>
        <p:nvSpPr>
          <p:cNvPr id="8" name="Text 5"/>
          <p:cNvSpPr/>
          <p:nvPr/>
        </p:nvSpPr>
        <p:spPr>
          <a:xfrm>
            <a:off x="838139" y="3428909"/>
            <a:ext cx="2190720" cy="342900"/>
          </a:xfrm>
          <a:prstGeom prst="rect">
            <a:avLst/>
          </a:prstGeom>
          <a:solidFill>
            <a:srgbClr val="09192C"/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工业机器人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6689" y="4076578"/>
            <a:ext cx="4000409" cy="495330"/>
          </a:xfrm>
          <a:prstGeom prst="roundRect">
            <a:avLst>
              <a:gd name="adj" fmla="val 15378"/>
            </a:avLst>
          </a:prstGeom>
          <a:solidFill>
            <a:srgbClr val="F26322"/>
          </a:solidFill>
          <a:ln/>
        </p:spPr>
      </p:sp>
      <p:sp>
        <p:nvSpPr>
          <p:cNvPr id="10" name="Text 7"/>
          <p:cNvSpPr/>
          <p:nvPr/>
        </p:nvSpPr>
        <p:spPr>
          <a:xfrm>
            <a:off x="838139" y="4152839"/>
            <a:ext cx="2190720" cy="342900"/>
          </a:xfrm>
          <a:prstGeom prst="rect">
            <a:avLst/>
          </a:prstGeom>
          <a:solidFill>
            <a:srgbClr val="F26322"/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协作机器人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66689" y="4800509"/>
            <a:ext cx="4952848" cy="495330"/>
          </a:xfrm>
          <a:prstGeom prst="roundRect">
            <a:avLst>
              <a:gd name="adj" fmla="val 15378"/>
            </a:avLst>
          </a:prstGeom>
          <a:solidFill>
            <a:srgbClr val="3B6F91"/>
          </a:solidFill>
          <a:ln/>
        </p:spPr>
      </p:sp>
      <p:sp>
        <p:nvSpPr>
          <p:cNvPr id="12" name="Text 9"/>
          <p:cNvSpPr/>
          <p:nvPr/>
        </p:nvSpPr>
        <p:spPr>
          <a:xfrm>
            <a:off x="838139" y="4876678"/>
            <a:ext cx="2190720" cy="342900"/>
          </a:xfrm>
          <a:prstGeom prst="rect">
            <a:avLst/>
          </a:prstGeom>
          <a:solidFill>
            <a:srgbClr val="3B6F91"/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6689" y="5762457"/>
            <a:ext cx="5333878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2025年收入5017万元，净亏损5300万元</a:t>
            </a:r>
            <a:endParaRPr lang="en-US" sz="12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2857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COMMERCIAL LOOP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74293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人形机器人需要完成四次验证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4000409" y="1619220"/>
            <a:ext cx="4190878" cy="4190878"/>
          </a:xfrm>
          <a:custGeom>
            <a:avLst/>
            <a:gdLst/>
            <a:ahLst/>
            <a:cxnLst/>
            <a:rect l="l" t="t" r="r" b="b"/>
            <a:pathLst>
              <a:path w="4190878" h="4190878">
                <a:moveTo>
                  <a:pt x="2241652" y="5121"/>
                </a:moveTo>
                <a:cubicBezTo>
                  <a:pt x="3283702" y="77998"/>
                  <a:pt x="4112880" y="907268"/>
                  <a:pt x="4185757" y="1949226"/>
                </a:cubicBezTo>
                <a:lnTo>
                  <a:pt x="3856482" y="2156978"/>
                </a:lnTo>
                <a:lnTo>
                  <a:pt x="3520623" y="1995861"/>
                </a:lnTo>
                <a:cubicBezTo>
                  <a:pt x="3470971" y="1285281"/>
                  <a:pt x="2905597" y="719907"/>
                  <a:pt x="2195109" y="670255"/>
                </a:cubicBezTo>
                <a:lnTo>
                  <a:pt x="2401397" y="360091"/>
                </a:lnTo>
                <a:close/>
              </a:path>
            </a:pathLst>
          </a:custGeom>
          <a:solidFill>
            <a:srgbClr val="09192C"/>
          </a:solidFill>
          <a:ln/>
        </p:spPr>
      </p:sp>
      <p:sp>
        <p:nvSpPr>
          <p:cNvPr id="5" name="Shape 3"/>
          <p:cNvSpPr/>
          <p:nvPr/>
        </p:nvSpPr>
        <p:spPr>
          <a:xfrm>
            <a:off x="4000409" y="1619220"/>
            <a:ext cx="4190878" cy="4190878"/>
          </a:xfrm>
          <a:custGeom>
            <a:avLst/>
            <a:gdLst/>
            <a:ahLst/>
            <a:cxnLst/>
            <a:rect l="l" t="t" r="r" b="b"/>
            <a:pathLst>
              <a:path w="4190878" h="4190878">
                <a:moveTo>
                  <a:pt x="4185757" y="2241652"/>
                </a:moveTo>
                <a:cubicBezTo>
                  <a:pt x="4112880" y="3283702"/>
                  <a:pt x="3283702" y="4112880"/>
                  <a:pt x="2241652" y="4185757"/>
                </a:cubicBezTo>
                <a:lnTo>
                  <a:pt x="2033900" y="3856482"/>
                </a:lnTo>
                <a:lnTo>
                  <a:pt x="2195109" y="3520623"/>
                </a:lnTo>
                <a:cubicBezTo>
                  <a:pt x="2905597" y="3470971"/>
                  <a:pt x="3470971" y="2905597"/>
                  <a:pt x="3520623" y="2195109"/>
                </a:cubicBezTo>
                <a:lnTo>
                  <a:pt x="3830787" y="2401397"/>
                </a:lnTo>
                <a:close/>
              </a:path>
            </a:pathLst>
          </a:custGeom>
          <a:solidFill>
            <a:srgbClr val="F26322"/>
          </a:solidFill>
          <a:ln/>
        </p:spPr>
      </p:sp>
      <p:sp>
        <p:nvSpPr>
          <p:cNvPr id="6" name="Shape 4"/>
          <p:cNvSpPr/>
          <p:nvPr/>
        </p:nvSpPr>
        <p:spPr>
          <a:xfrm>
            <a:off x="4000409" y="1619220"/>
            <a:ext cx="4190878" cy="4190878"/>
          </a:xfrm>
          <a:custGeom>
            <a:avLst/>
            <a:gdLst/>
            <a:ahLst/>
            <a:cxnLst/>
            <a:rect l="l" t="t" r="r" b="b"/>
            <a:pathLst>
              <a:path w="4190878" h="4190878">
                <a:moveTo>
                  <a:pt x="1949226" y="4185757"/>
                </a:moveTo>
                <a:cubicBezTo>
                  <a:pt x="907268" y="4112880"/>
                  <a:pt x="77998" y="3283702"/>
                  <a:pt x="5121" y="2241652"/>
                </a:cubicBezTo>
                <a:lnTo>
                  <a:pt x="334396" y="2033900"/>
                </a:lnTo>
                <a:lnTo>
                  <a:pt x="670255" y="2195109"/>
                </a:lnTo>
                <a:cubicBezTo>
                  <a:pt x="719907" y="2905597"/>
                  <a:pt x="1285281" y="3470971"/>
                  <a:pt x="1995861" y="3520623"/>
                </a:cubicBezTo>
                <a:lnTo>
                  <a:pt x="1789481" y="3830787"/>
                </a:lnTo>
                <a:close/>
              </a:path>
            </a:pathLst>
          </a:custGeom>
          <a:solidFill>
            <a:srgbClr val="3B6F91"/>
          </a:solidFill>
          <a:ln/>
        </p:spPr>
      </p:sp>
      <p:sp>
        <p:nvSpPr>
          <p:cNvPr id="7" name="Shape 5"/>
          <p:cNvSpPr/>
          <p:nvPr/>
        </p:nvSpPr>
        <p:spPr>
          <a:xfrm>
            <a:off x="4000409" y="1619220"/>
            <a:ext cx="4190878" cy="4190878"/>
          </a:xfrm>
          <a:custGeom>
            <a:avLst/>
            <a:gdLst/>
            <a:ahLst/>
            <a:cxnLst/>
            <a:rect l="l" t="t" r="r" b="b"/>
            <a:pathLst>
              <a:path w="4190878" h="4190878">
                <a:moveTo>
                  <a:pt x="5121" y="1949226"/>
                </a:moveTo>
                <a:cubicBezTo>
                  <a:pt x="77998" y="907268"/>
                  <a:pt x="907268" y="77998"/>
                  <a:pt x="1949226" y="5121"/>
                </a:cubicBezTo>
                <a:lnTo>
                  <a:pt x="2156978" y="334396"/>
                </a:lnTo>
                <a:lnTo>
                  <a:pt x="1995861" y="670255"/>
                </a:lnTo>
                <a:cubicBezTo>
                  <a:pt x="1285281" y="719907"/>
                  <a:pt x="719907" y="1285281"/>
                  <a:pt x="670255" y="1995861"/>
                </a:cubicBezTo>
                <a:lnTo>
                  <a:pt x="360091" y="1789481"/>
                </a:lnTo>
                <a:close/>
              </a:path>
            </a:pathLst>
          </a:custGeom>
          <a:solidFill>
            <a:srgbClr val="8CA6B8"/>
          </a:solidFill>
          <a:ln/>
        </p:spPr>
      </p:sp>
      <p:sp>
        <p:nvSpPr>
          <p:cNvPr id="8" name="Shape 6"/>
          <p:cNvSpPr/>
          <p:nvPr/>
        </p:nvSpPr>
        <p:spPr>
          <a:xfrm>
            <a:off x="4905207" y="2524018"/>
            <a:ext cx="2381189" cy="2381189"/>
          </a:xfrm>
          <a:prstGeom prst="ellipse">
            <a:avLst/>
          </a:prstGeom>
          <a:solidFill>
            <a:srgbClr val="09192C"/>
          </a:solidFill>
          <a:ln/>
        </p:spPr>
      </p:sp>
      <p:sp>
        <p:nvSpPr>
          <p:cNvPr id="9" name="Text 7"/>
          <p:cNvSpPr/>
          <p:nvPr/>
        </p:nvSpPr>
        <p:spPr>
          <a:xfrm>
            <a:off x="4905207" y="3286079"/>
            <a:ext cx="238118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工业场景</a:t>
            </a:r>
            <a:endParaRPr lang="en-US" sz="2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闭环验证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52848" y="1428750"/>
            <a:ext cx="2285909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919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技术底座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77037" y="3524189"/>
            <a:ext cx="219072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产品订单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52848" y="5810098"/>
            <a:ext cx="2285909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B6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客户复购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76299" y="3524189"/>
            <a:ext cx="219072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B6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规模盈利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96006" y="5381518"/>
            <a:ext cx="3333628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已有产品与首批订单并不等于商业模式已经成立</a:t>
            </a:r>
            <a:endParaRPr lang="en-US" sz="9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2857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INCENTIVE FLOOR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85723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股权激励给出利润修复的最低台阶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57250" y="4857659"/>
            <a:ext cx="4000409" cy="723839"/>
          </a:xfrm>
          <a:prstGeom prst="roundRect">
            <a:avLst>
              <a:gd name="adj" fmla="val 13163"/>
            </a:avLst>
          </a:prstGeom>
          <a:solidFill>
            <a:srgbClr val="5B6879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4857659"/>
            <a:ext cx="4000409" cy="723839"/>
          </a:xfrm>
          <a:prstGeom prst="rect">
            <a:avLst/>
          </a:prstGeom>
          <a:solidFill>
            <a:srgbClr val="5B68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2024基期  收入40.09亿元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809689" y="3857488"/>
            <a:ext cx="4476628" cy="723839"/>
          </a:xfrm>
          <a:prstGeom prst="roundRect">
            <a:avLst>
              <a:gd name="adj" fmla="val 13163"/>
            </a:avLst>
          </a:prstGeom>
          <a:solidFill>
            <a:srgbClr val="3B6F91"/>
          </a:solidFill>
          <a:ln/>
        </p:spPr>
      </p:sp>
      <p:sp>
        <p:nvSpPr>
          <p:cNvPr id="7" name="Text 5"/>
          <p:cNvSpPr/>
          <p:nvPr/>
        </p:nvSpPr>
        <p:spPr>
          <a:xfrm>
            <a:off x="1809689" y="3857488"/>
            <a:ext cx="4476628" cy="723839"/>
          </a:xfrm>
          <a:prstGeom prst="rect">
            <a:avLst/>
          </a:prstGeom>
          <a:solidFill>
            <a:srgbClr val="3B6F9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2025第一期  收入增长21.93%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952689" y="2857409"/>
            <a:ext cx="4952848" cy="723839"/>
          </a:xfrm>
          <a:prstGeom prst="roundRect">
            <a:avLst>
              <a:gd name="adj" fmla="val 13163"/>
            </a:avLst>
          </a:prstGeom>
          <a:solidFill>
            <a:srgbClr val="09192C"/>
          </a:solidFill>
          <a:ln/>
        </p:spPr>
      </p:sp>
      <p:sp>
        <p:nvSpPr>
          <p:cNvPr id="9" name="Text 7"/>
          <p:cNvSpPr/>
          <p:nvPr/>
        </p:nvSpPr>
        <p:spPr>
          <a:xfrm>
            <a:off x="2952689" y="2857409"/>
            <a:ext cx="4952848" cy="723839"/>
          </a:xfrm>
          <a:prstGeom prst="rect">
            <a:avLst/>
          </a:prstGeom>
          <a:solidFill>
            <a:srgbClr val="0919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2026两年累计净利润  2.2亿元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86159" y="1857329"/>
            <a:ext cx="5429159" cy="723839"/>
          </a:xfrm>
          <a:prstGeom prst="roundRect">
            <a:avLst>
              <a:gd name="adj" fmla="val 13163"/>
            </a:avLst>
          </a:prstGeom>
          <a:solidFill>
            <a:srgbClr val="F26322"/>
          </a:solidFill>
          <a:ln/>
        </p:spPr>
      </p:sp>
      <p:sp>
        <p:nvSpPr>
          <p:cNvPr id="11" name="Text 9"/>
          <p:cNvSpPr/>
          <p:nvPr/>
        </p:nvSpPr>
        <p:spPr>
          <a:xfrm>
            <a:off x="4286159" y="1857329"/>
            <a:ext cx="5429159" cy="723839"/>
          </a:xfrm>
          <a:prstGeom prst="rect">
            <a:avLst/>
          </a:prstGeom>
          <a:solidFill>
            <a:srgbClr val="F263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2027三年累计净利润  3.6亿元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38927" y="3333628"/>
            <a:ext cx="3047878" cy="123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第一期收入目标已经完成。后两期真正约束的是累计利润，而不是单纯扩大收入。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38927" y="4810018"/>
            <a:ext cx="3047878" cy="0"/>
          </a:xfrm>
          <a:prstGeom prst="line">
            <a:avLst/>
          </a:prstGeom>
          <a:noFill/>
          <a:ln w="38100">
            <a:solidFill>
              <a:srgbClr val="F263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927" y="5000488"/>
            <a:ext cx="30478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8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考核线不是估值上限</a:t>
            </a:r>
            <a:endParaRPr lang="en-US" sz="15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3047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EARNINGS FORECAST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78103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一致预期要求利润连续四年抬升</a:t>
            </a:r>
            <a:endParaRPr lang="en-US" sz="25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66689" y="1714500"/>
          <a:ext cx="7429317" cy="409568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715146" y="1904970"/>
            <a:ext cx="238118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435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4.8%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8858067" y="2857409"/>
            <a:ext cx="223836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2028E隐含净利率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8629467" y="3724168"/>
            <a:ext cx="114300" cy="114300"/>
          </a:xfrm>
          <a:prstGeom prst="ellipse">
            <a:avLst/>
          </a:prstGeom>
          <a:solidFill>
            <a:srgbClr val="F26322"/>
          </a:solidFill>
          <a:ln/>
        </p:spPr>
      </p:sp>
      <p:sp>
        <p:nvSpPr>
          <p:cNvPr id="8" name="Text 5"/>
          <p:cNvSpPr/>
          <p:nvPr/>
        </p:nvSpPr>
        <p:spPr>
          <a:xfrm>
            <a:off x="8896106" y="3667018"/>
            <a:ext cx="247647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毛利率维持31%以上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8629467" y="4276649"/>
            <a:ext cx="114300" cy="114300"/>
          </a:xfrm>
          <a:prstGeom prst="ellipse">
            <a:avLst/>
          </a:prstGeom>
          <a:solidFill>
            <a:srgbClr val="F26322"/>
          </a:solidFill>
          <a:ln/>
        </p:spPr>
      </p:sp>
      <p:sp>
        <p:nvSpPr>
          <p:cNvPr id="10" name="Text 7"/>
          <p:cNvSpPr/>
          <p:nvPr/>
        </p:nvSpPr>
        <p:spPr>
          <a:xfrm>
            <a:off x="8896106" y="4219499"/>
            <a:ext cx="247647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费用率继续下降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8629467" y="4829038"/>
            <a:ext cx="114300" cy="114300"/>
          </a:xfrm>
          <a:prstGeom prst="ellipse">
            <a:avLst/>
          </a:prstGeom>
          <a:solidFill>
            <a:srgbClr val="F26322"/>
          </a:solidFill>
          <a:ln/>
        </p:spPr>
      </p:sp>
      <p:sp>
        <p:nvSpPr>
          <p:cNvPr id="12" name="Text 9"/>
          <p:cNvSpPr/>
          <p:nvPr/>
        </p:nvSpPr>
        <p:spPr>
          <a:xfrm>
            <a:off x="8896106" y="4771888"/>
            <a:ext cx="247647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不再发生大额减值</a:t>
            </a:r>
            <a:endParaRPr lang="en-US" sz="11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3619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VALUATION PROOF TOWER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885806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294亿元市值需要四层证据同时成立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439" y="4762378"/>
            <a:ext cx="4762378" cy="1000079"/>
          </a:xfrm>
          <a:custGeom>
            <a:avLst/>
            <a:gdLst/>
            <a:ahLst/>
            <a:cxnLst/>
            <a:rect l="l" t="t" r="r" b="b"/>
            <a:pathLst>
              <a:path w="4762378" h="1000079">
                <a:moveTo>
                  <a:pt x="523860" y="0"/>
                </a:moveTo>
                <a:lnTo>
                  <a:pt x="0" y="1000079"/>
                </a:lnTo>
                <a:lnTo>
                  <a:pt x="4762378" y="1000079"/>
                </a:lnTo>
                <a:lnTo>
                  <a:pt x="4238518" y="0"/>
                </a:lnTo>
                <a:close/>
              </a:path>
            </a:pathLst>
          </a:custGeom>
          <a:solidFill>
            <a:srgbClr val="C7D1D9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5095768"/>
            <a:ext cx="3809939" cy="361920"/>
          </a:xfrm>
          <a:prstGeom prst="rect">
            <a:avLst/>
          </a:prstGeom>
          <a:solidFill>
            <a:srgbClr val="C7D1D9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919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工业机器人主业与财务修复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428750" y="3667018"/>
            <a:ext cx="3809939" cy="904890"/>
          </a:xfrm>
          <a:custGeom>
            <a:avLst/>
            <a:gdLst/>
            <a:ahLst/>
            <a:cxnLst/>
            <a:rect l="l" t="t" r="r" b="b"/>
            <a:pathLst>
              <a:path w="3809939" h="904890">
                <a:moveTo>
                  <a:pt x="428579" y="0"/>
                </a:moveTo>
                <a:lnTo>
                  <a:pt x="0" y="904890"/>
                </a:lnTo>
                <a:lnTo>
                  <a:pt x="3809939" y="904890"/>
                </a:lnTo>
                <a:lnTo>
                  <a:pt x="3381268" y="0"/>
                </a:lnTo>
                <a:close/>
              </a:path>
            </a:pathLst>
          </a:custGeom>
          <a:solidFill>
            <a:srgbClr val="3B6F91"/>
          </a:solidFill>
          <a:ln/>
        </p:spPr>
      </p:sp>
      <p:sp>
        <p:nvSpPr>
          <p:cNvPr id="7" name="Text 5"/>
          <p:cNvSpPr/>
          <p:nvPr/>
        </p:nvSpPr>
        <p:spPr>
          <a:xfrm>
            <a:off x="1809689" y="3952768"/>
            <a:ext cx="3047878" cy="361920"/>
          </a:xfrm>
          <a:prstGeom prst="rect">
            <a:avLst/>
          </a:prstGeom>
          <a:solidFill>
            <a:srgbClr val="3B6F91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人形机器人规模订单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904970" y="2619299"/>
            <a:ext cx="2857409" cy="857250"/>
          </a:xfrm>
          <a:custGeom>
            <a:avLst/>
            <a:gdLst/>
            <a:ahLst/>
            <a:cxnLst/>
            <a:rect l="l" t="t" r="r" b="b"/>
            <a:pathLst>
              <a:path w="2857409" h="857250">
                <a:moveTo>
                  <a:pt x="381030" y="0"/>
                </a:moveTo>
                <a:lnTo>
                  <a:pt x="0" y="857250"/>
                </a:lnTo>
                <a:lnTo>
                  <a:pt x="2857409" y="857250"/>
                </a:lnTo>
                <a:lnTo>
                  <a:pt x="2476470" y="0"/>
                </a:lnTo>
                <a:close/>
              </a:path>
            </a:pathLst>
          </a:custGeom>
          <a:solidFill>
            <a:srgbClr val="3B6F91"/>
          </a:solidFill>
          <a:ln/>
        </p:spPr>
      </p:sp>
      <p:sp>
        <p:nvSpPr>
          <p:cNvPr id="9" name="Text 7"/>
          <p:cNvSpPr/>
          <p:nvPr/>
        </p:nvSpPr>
        <p:spPr>
          <a:xfrm>
            <a:off x="2238360" y="2876520"/>
            <a:ext cx="2190720" cy="361920"/>
          </a:xfrm>
          <a:prstGeom prst="rect">
            <a:avLst/>
          </a:prstGeom>
          <a:solidFill>
            <a:srgbClr val="3B6F91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净利率8%至10%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381189" y="1571579"/>
            <a:ext cx="1904970" cy="857250"/>
          </a:xfrm>
          <a:custGeom>
            <a:avLst/>
            <a:gdLst/>
            <a:ahLst/>
            <a:cxnLst/>
            <a:rect l="l" t="t" r="r" b="b"/>
            <a:pathLst>
              <a:path w="1904970" h="857250">
                <a:moveTo>
                  <a:pt x="952439" y="0"/>
                </a:moveTo>
                <a:lnTo>
                  <a:pt x="0" y="857250"/>
                </a:lnTo>
                <a:lnTo>
                  <a:pt x="1904970" y="857250"/>
                </a:lnTo>
                <a:close/>
              </a:path>
            </a:pathLst>
          </a:custGeom>
          <a:solidFill>
            <a:srgbClr val="F26322"/>
          </a:solidFill>
          <a:ln/>
        </p:spPr>
      </p:sp>
      <p:sp>
        <p:nvSpPr>
          <p:cNvPr id="11" name="Text 9"/>
          <p:cNvSpPr/>
          <p:nvPr/>
        </p:nvSpPr>
        <p:spPr>
          <a:xfrm>
            <a:off x="2571659" y="1904970"/>
            <a:ext cx="1523939" cy="323880"/>
          </a:xfrm>
          <a:prstGeom prst="rect">
            <a:avLst/>
          </a:prstGeom>
          <a:solidFill>
            <a:srgbClr val="F26322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约10亿利润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381598" y="1571579"/>
            <a:ext cx="0" cy="4238518"/>
          </a:xfrm>
          <a:prstGeom prst="line">
            <a:avLst/>
          </a:prstGeom>
          <a:noFill/>
          <a:ln w="1905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3098" y="1762049"/>
            <a:ext cx="171450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53098" y="2238360"/>
            <a:ext cx="190497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出货第一</a:t>
            </a:r>
            <a:endParaRPr lang="en-US" sz="12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毛利率回升</a:t>
            </a:r>
            <a:endParaRPr lang="en-US" sz="12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现金流改善</a:t>
            </a:r>
            <a:endParaRPr lang="en-US" sz="12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杠杆下降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9239006" y="1762049"/>
            <a:ext cx="171450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39006" y="2238360"/>
            <a:ext cx="2000159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利润率正常化</a:t>
            </a:r>
            <a:endParaRPr lang="en-US" sz="12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人形规模订单</a:t>
            </a:r>
            <a:endParaRPr lang="en-US" sz="12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Cloos稳定经营</a:t>
            </a:r>
            <a:endParaRPr lang="en-US" sz="128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8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估值逐步消化</a:t>
            </a:r>
            <a:endParaRPr lang="en-US" sz="12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2666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 FAN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72388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估值将沿三条路径消化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667268" y="5381518"/>
            <a:ext cx="857250" cy="857250"/>
          </a:xfrm>
          <a:prstGeom prst="ellipse">
            <a:avLst/>
          </a:prstGeom>
          <a:solidFill>
            <a:srgbClr val="09192C"/>
          </a:solidFill>
          <a:ln/>
        </p:spPr>
      </p:sp>
      <p:sp>
        <p:nvSpPr>
          <p:cNvPr id="5" name="Text 3"/>
          <p:cNvSpPr/>
          <p:nvPr/>
        </p:nvSpPr>
        <p:spPr>
          <a:xfrm>
            <a:off x="5667268" y="5524348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43000" y="1619220"/>
            <a:ext cx="4952848" cy="4000409"/>
          </a:xfrm>
          <a:custGeom>
            <a:avLst/>
            <a:gdLst/>
            <a:ahLst/>
            <a:cxnLst/>
            <a:rect l="l" t="t" r="r" b="b"/>
            <a:pathLst>
              <a:path w="4952848" h="4000409">
                <a:moveTo>
                  <a:pt x="0" y="0"/>
                </a:moveTo>
                <a:lnTo>
                  <a:pt x="2857409" y="0"/>
                </a:lnTo>
                <a:lnTo>
                  <a:pt x="4952848" y="4000409"/>
                </a:lnTo>
                <a:close/>
              </a:path>
            </a:pathLst>
          </a:custGeom>
          <a:solidFill>
            <a:srgbClr val="3B6F91">
              <a:alpha val="19000"/>
            </a:srgbClr>
          </a:solidFill>
          <a:ln w="19050">
            <a:solidFill>
              <a:srgbClr val="3B6F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52848" y="1619220"/>
            <a:ext cx="2285909" cy="4000409"/>
          </a:xfrm>
          <a:custGeom>
            <a:avLst/>
            <a:gdLst/>
            <a:ahLst/>
            <a:cxnLst/>
            <a:rect l="l" t="t" r="r" b="b"/>
            <a:pathLst>
              <a:path w="2285909" h="4000409">
                <a:moveTo>
                  <a:pt x="0" y="0"/>
                </a:moveTo>
                <a:lnTo>
                  <a:pt x="2285909" y="0"/>
                </a:lnTo>
                <a:lnTo>
                  <a:pt x="1143000" y="4000409"/>
                </a:lnTo>
                <a:close/>
              </a:path>
            </a:pathLst>
          </a:custGeom>
          <a:solidFill>
            <a:srgbClr val="F26322">
              <a:alpha val="25000"/>
            </a:srgbClr>
          </a:solidFill>
          <a:ln w="19050">
            <a:solidFill>
              <a:srgbClr val="F263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48" y="1619220"/>
            <a:ext cx="4952848" cy="4000409"/>
          </a:xfrm>
          <a:custGeom>
            <a:avLst/>
            <a:gdLst/>
            <a:ahLst/>
            <a:cxnLst/>
            <a:rect l="l" t="t" r="r" b="b"/>
            <a:pathLst>
              <a:path w="4952848" h="4000409">
                <a:moveTo>
                  <a:pt x="2095439" y="0"/>
                </a:moveTo>
                <a:lnTo>
                  <a:pt x="4952848" y="0"/>
                </a:lnTo>
                <a:lnTo>
                  <a:pt x="0" y="4000409"/>
                </a:lnTo>
                <a:close/>
              </a:path>
            </a:pathLst>
          </a:custGeom>
          <a:solidFill>
            <a:srgbClr val="C7D1D9">
              <a:alpha val="25000"/>
            </a:srgbClr>
          </a:solidFill>
          <a:ln w="19050">
            <a:solidFill>
              <a:srgbClr val="C7D1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2049" y="1952610"/>
            <a:ext cx="1428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50" b="1" dirty="0">
                <a:solidFill>
                  <a:srgbClr val="3B6F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619220" y="2666939"/>
            <a:ext cx="1714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</a:t>
            </a:r>
            <a:endParaRPr lang="en-US" sz="143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60倍PE锚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5381518" y="1952610"/>
            <a:ext cx="1428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50" b="1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5143409" y="2666939"/>
            <a:ext cx="19049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中性</a:t>
            </a:r>
            <a:endParaRPr lang="en-US" sz="143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145至175亿元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9000896" y="1952610"/>
            <a:ext cx="1428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50" b="1" dirty="0">
                <a:solidFill>
                  <a:srgbClr val="0919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8858067" y="2666939"/>
            <a:ext cx="1714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悲观</a:t>
            </a:r>
            <a:endParaRPr lang="en-US" sz="143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3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80亿元以下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3714659" y="6191128"/>
            <a:ext cx="4762378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概率与估值来自报告情景假设，不是承诺或预测保证</a:t>
            </a:r>
            <a:endParaRPr lang="en-US" sz="9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57200"/>
            <a:ext cx="32384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B63A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TRANSMISSION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780989"/>
            <a:ext cx="78103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四类风险最终汇聚为估值回撤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904970" y="2381189"/>
            <a:ext cx="4190878" cy="1619220"/>
          </a:xfrm>
          <a:custGeom>
            <a:avLst/>
            <a:gdLst/>
            <a:ahLst/>
            <a:cxnLst/>
            <a:rect l="l" t="t" r="r" b="b"/>
            <a:pathLst>
              <a:path w="4190878" h="1619220">
                <a:moveTo>
                  <a:pt x="4190878" y="0"/>
                </a:moveTo>
                <a:cubicBezTo>
                  <a:pt x="4190878" y="809610"/>
                  <a:pt x="0" y="809610"/>
                  <a:pt x="0" y="1619220"/>
                </a:cubicBezTo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3B6F9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667098" y="2381189"/>
            <a:ext cx="1428750" cy="1619220"/>
          </a:xfrm>
          <a:custGeom>
            <a:avLst/>
            <a:gdLst/>
            <a:ahLst/>
            <a:cxnLst/>
            <a:rect l="l" t="t" r="r" b="b"/>
            <a:pathLst>
              <a:path w="1428750" h="1619220">
                <a:moveTo>
                  <a:pt x="1428750" y="0"/>
                </a:moveTo>
                <a:cubicBezTo>
                  <a:pt x="1428750" y="809610"/>
                  <a:pt x="0" y="809610"/>
                  <a:pt x="0" y="1619220"/>
                </a:cubicBezTo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3B6F9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095848" y="2381189"/>
            <a:ext cx="1428750" cy="1619220"/>
          </a:xfrm>
          <a:custGeom>
            <a:avLst/>
            <a:gdLst/>
            <a:ahLst/>
            <a:cxnLst/>
            <a:rect l="l" t="t" r="r" b="b"/>
            <a:pathLst>
              <a:path w="1428750" h="1619220">
                <a:moveTo>
                  <a:pt x="0" y="0"/>
                </a:moveTo>
                <a:cubicBezTo>
                  <a:pt x="0" y="809610"/>
                  <a:pt x="1428750" y="809610"/>
                  <a:pt x="1428750" y="1619220"/>
                </a:cubicBezTo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3B6F9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095848" y="2381189"/>
            <a:ext cx="4190878" cy="1619220"/>
          </a:xfrm>
          <a:custGeom>
            <a:avLst/>
            <a:gdLst/>
            <a:ahLst/>
            <a:cxnLst/>
            <a:rect l="l" t="t" r="r" b="b"/>
            <a:pathLst>
              <a:path w="4190878" h="1619220">
                <a:moveTo>
                  <a:pt x="0" y="0"/>
                </a:moveTo>
                <a:cubicBezTo>
                  <a:pt x="0" y="809610"/>
                  <a:pt x="4190878" y="809610"/>
                  <a:pt x="4190878" y="1619220"/>
                </a:cubicBezTo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3B6F9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333799" y="1619220"/>
            <a:ext cx="3524189" cy="857250"/>
          </a:xfrm>
          <a:prstGeom prst="roundRect">
            <a:avLst>
              <a:gd name="adj" fmla="val 22219"/>
            </a:avLst>
          </a:prstGeom>
          <a:solidFill>
            <a:srgbClr val="09192C"/>
          </a:solidFill>
          <a:ln/>
        </p:spPr>
      </p:sp>
      <p:sp>
        <p:nvSpPr>
          <p:cNvPr id="9" name="Text 7"/>
          <p:cNvSpPr/>
          <p:nvPr/>
        </p:nvSpPr>
        <p:spPr>
          <a:xfrm>
            <a:off x="4667098" y="1828709"/>
            <a:ext cx="2857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估值快速收缩</a:t>
            </a:r>
            <a:endParaRPr lang="en-US" sz="2030" dirty="0"/>
          </a:p>
        </p:txBody>
      </p:sp>
      <p:sp>
        <p:nvSpPr>
          <p:cNvPr id="10" name="Shape 8"/>
          <p:cNvSpPr/>
          <p:nvPr/>
        </p:nvSpPr>
        <p:spPr>
          <a:xfrm>
            <a:off x="666689" y="4000409"/>
            <a:ext cx="57150" cy="1809689"/>
          </a:xfrm>
          <a:prstGeom prst="rect">
            <a:avLst/>
          </a:prstGeom>
          <a:solidFill>
            <a:srgbClr val="F26322"/>
          </a:solidFill>
          <a:ln/>
        </p:spPr>
      </p:sp>
      <p:sp>
        <p:nvSpPr>
          <p:cNvPr id="11" name="Text 9"/>
          <p:cNvSpPr/>
          <p:nvPr/>
        </p:nvSpPr>
        <p:spPr>
          <a:xfrm>
            <a:off x="876270" y="4209989"/>
            <a:ext cx="20954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76270" y="4810018"/>
            <a:ext cx="2095439" cy="780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机器人均价继续下探</a:t>
            </a:r>
            <a:endParaRPr lang="en-US" sz="113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毛利率再次承压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3428909" y="4000409"/>
            <a:ext cx="57150" cy="1809689"/>
          </a:xfrm>
          <a:prstGeom prst="rect">
            <a:avLst/>
          </a:prstGeom>
          <a:solidFill>
            <a:srgbClr val="3B6F91"/>
          </a:solidFill>
          <a:ln/>
        </p:spPr>
      </p:sp>
      <p:sp>
        <p:nvSpPr>
          <p:cNvPr id="14" name="Text 12"/>
          <p:cNvSpPr/>
          <p:nvPr/>
        </p:nvSpPr>
        <p:spPr>
          <a:xfrm>
            <a:off x="3638489" y="4209989"/>
            <a:ext cx="20954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Cloos减值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638489" y="4810018"/>
            <a:ext cx="2095439" cy="780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海外经营不及预期</a:t>
            </a:r>
            <a:endParaRPr lang="en-US" sz="113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商誉余额9.75亿元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86317" y="4000409"/>
            <a:ext cx="57150" cy="1809689"/>
          </a:xfrm>
          <a:prstGeom prst="rect">
            <a:avLst/>
          </a:prstGeom>
          <a:solidFill>
            <a:srgbClr val="8CA6B8"/>
          </a:solidFill>
          <a:ln/>
        </p:spPr>
      </p:sp>
      <p:sp>
        <p:nvSpPr>
          <p:cNvPr id="17" name="Text 15"/>
          <p:cNvSpPr/>
          <p:nvPr/>
        </p:nvSpPr>
        <p:spPr>
          <a:xfrm>
            <a:off x="6495898" y="4209989"/>
            <a:ext cx="20954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人形订单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95898" y="4810018"/>
            <a:ext cx="2095439" cy="780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商业化和复购不及预期</a:t>
            </a:r>
            <a:endParaRPr lang="en-US" sz="113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投入拖累短期利润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9048537" y="4000409"/>
            <a:ext cx="57150" cy="1809689"/>
          </a:xfrm>
          <a:prstGeom prst="rect">
            <a:avLst/>
          </a:prstGeom>
          <a:solidFill>
            <a:srgbClr val="C7D1D9"/>
          </a:solidFill>
          <a:ln/>
        </p:spPr>
      </p:sp>
      <p:sp>
        <p:nvSpPr>
          <p:cNvPr id="20" name="Text 18"/>
          <p:cNvSpPr/>
          <p:nvPr/>
        </p:nvSpPr>
        <p:spPr>
          <a:xfrm>
            <a:off x="9258026" y="4209989"/>
            <a:ext cx="20954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3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客户集中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258026" y="4810018"/>
            <a:ext cx="2095439" cy="780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大客户资本开支变化</a:t>
            </a:r>
            <a:endParaRPr lang="en-US" sz="113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5B68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收入与回款波动</a:t>
            </a:r>
            <a:endParaRPr lang="en-US" sz="11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9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689" y="495330"/>
            <a:ext cx="2857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30" b="1" spc="200" kern="0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FRAME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666689" y="1238189"/>
            <a:ext cx="8572317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产业地位已经确立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666689" y="2095439"/>
            <a:ext cx="10000976" cy="609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7D1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盈利能力仍在验证，价格决定安全边际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6689" y="3047878"/>
            <a:ext cx="10858226" cy="0"/>
          </a:xfrm>
          <a:prstGeom prst="line">
            <a:avLst/>
          </a:prstGeom>
          <a:noFill/>
          <a:ln w="38100">
            <a:solidFill>
              <a:srgbClr val="F263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6689" y="3619378"/>
            <a:ext cx="6666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6689" y="4209989"/>
            <a:ext cx="28574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扣非净利率</a:t>
            </a:r>
            <a:endParaRPr lang="en-US" sz="1730" dirty="0"/>
          </a:p>
        </p:txBody>
      </p:sp>
      <p:sp>
        <p:nvSpPr>
          <p:cNvPr id="8" name="Text 6"/>
          <p:cNvSpPr/>
          <p:nvPr/>
        </p:nvSpPr>
        <p:spPr>
          <a:xfrm>
            <a:off x="666689" y="4762378"/>
            <a:ext cx="285740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AEBB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连续季度改善，证明主业盈利可持续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4286159" y="3619378"/>
            <a:ext cx="6666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86159" y="4209989"/>
            <a:ext cx="28574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人形订单</a:t>
            </a:r>
            <a:endParaRPr lang="en-US" sz="1730" dirty="0"/>
          </a:p>
        </p:txBody>
      </p:sp>
      <p:sp>
        <p:nvSpPr>
          <p:cNvPr id="11" name="Text 9"/>
          <p:cNvSpPr/>
          <p:nvPr/>
        </p:nvSpPr>
        <p:spPr>
          <a:xfrm>
            <a:off x="4286159" y="4762378"/>
            <a:ext cx="285740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AEBB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从首批订单走向复购和规模交付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7905537" y="3619378"/>
            <a:ext cx="6666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263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05537" y="4209989"/>
            <a:ext cx="28574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Cloos经营</a:t>
            </a:r>
            <a:endParaRPr lang="en-US" sz="1730" dirty="0"/>
          </a:p>
        </p:txBody>
      </p:sp>
      <p:sp>
        <p:nvSpPr>
          <p:cNvPr id="14" name="Text 12"/>
          <p:cNvSpPr/>
          <p:nvPr/>
        </p:nvSpPr>
        <p:spPr>
          <a:xfrm>
            <a:off x="7905537" y="4762378"/>
            <a:ext cx="285740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30" dirty="0">
                <a:solidFill>
                  <a:srgbClr val="AEBB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海外毛利贡献与商誉风险同时验证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66689" y="6191128"/>
            <a:ext cx="8572317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AEBB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仅供一般信息参考，不构成投资建议。证券市场有风险，投资者应独立判断。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南京埃斯顿深度研究报告 AI 创意版</dc:title>
  <dc:subject>PptxGenJS Presentation</dc:subject>
  <dc:creator>ppt-gen</dc:creator>
  <cp:lastModifiedBy>ppt-gen</cp:lastModifiedBy>
  <cp:revision>1</cp:revision>
  <dcterms:created xsi:type="dcterms:W3CDTF">2026-09-05T20:19:17Z</dcterms:created>
  <dcterms:modified xsi:type="dcterms:W3CDTF">2026-09-05T20:19:17Z</dcterms:modified>
</cp:coreProperties>
</file>