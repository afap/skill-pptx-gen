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分业务收入对比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2026H1（亿元）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工业机器人及智能制造</c:v>
                  </c:pt>
                  <c:pt idx="1">
                    <c:v>自动化核心部件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21.38</c:v>
                </c:pt>
                <c:pt idx="1">
                  <c:v>4.39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2025H1（亿元）</c:v>
                </c:pt>
              </c:strCache>
            </c:strRef>
          </c:tx>
          <c:spPr>
            <a:solidFill>
              <a:srgbClr val="C9CF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工业机器人及智能制造</c:v>
                  </c:pt>
                  <c:pt idx="1">
                    <c:v>自动化核心部件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20.92</c:v>
                </c:pt>
                <c:pt idx="1">
                  <c:v>4.56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CFDA"/>
              </a:solidFill>
              <a:effectLst/>
            </c:spPr>
          </c:dPt>
          <c:dPt>
            <c:idx val="1"/>
            <c:bubble3D val="0"/>
            <c:spPr>
              <a:solidFill>
                <a:srgbClr val="F26B2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境内 63.7%</c:v>
                </c:pt>
                <c:pt idx="1">
                  <c:v>境外 36.3%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63.67</c:v>
                </c:pt>
                <c:pt idx="1">
                  <c:v>36.33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毛利率对比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2026H1（%）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综合毛利率</c:v>
                  </c:pt>
                  <c:pt idx="1">
                    <c:v>工业机器人</c:v>
                  </c:pt>
                  <c:pt idx="2">
                    <c:v>自动化核心部件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31.81</c:v>
                </c:pt>
                <c:pt idx="1">
                  <c:v>31.69</c:v>
                </c:pt>
                <c:pt idx="2">
                  <c:v>32.4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2025H1（%）</c:v>
                </c:pt>
              </c:strCache>
            </c:strRef>
          </c:tx>
          <c:spPr>
            <a:solidFill>
              <a:srgbClr val="C9CF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综合毛利率</c:v>
                  </c:pt>
                  <c:pt idx="1">
                    <c:v>工业机器人</c:v>
                  </c:pt>
                  <c:pt idx="2">
                    <c:v>自动化核心部件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27.64</c:v>
                </c:pt>
                <c:pt idx="1">
                  <c:v>27</c:v>
                </c:pt>
                <c:pt idx="2">
                  <c:v>30.58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封面（深色）。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left-hub 脑图：业务版图。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双圆环形对峙：挑战 vs 应对。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弧形轨道流：高质量发展闭环四段。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金字塔：战略层级四层。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SWOT 字母列。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垂直流程：发展路径四步。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四象限 + 中心环：平衡术。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数据仪表盘：四个大数字卡。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图表页：收入结构（柱图 + 环图）。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图表页：盈利质量（毛利率对比柱图）。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top-hub 脑图：战略主轴四支柱。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三环循环：增长三引擎。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金句页（聚焦强调变体，深色）。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结尾（深色）。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0C1B2E"/>
          </a:solidFill>
          <a:ln/>
        </p:spPr>
      </p:sp>
      <p:sp>
        <p:nvSpPr>
          <p:cNvPr id="3" name="Shape 1"/>
          <p:cNvSpPr/>
          <p:nvPr/>
        </p:nvSpPr>
        <p:spPr>
          <a:xfrm>
            <a:off x="7810348" y="-761970"/>
            <a:ext cx="5333878" cy="533387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2787" y="190470"/>
            <a:ext cx="3428909" cy="3428909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26B21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2766" y="1000079"/>
            <a:ext cx="133320" cy="133320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6" name="Text 4"/>
          <p:cNvSpPr/>
          <p:nvPr/>
        </p:nvSpPr>
        <p:spPr>
          <a:xfrm>
            <a:off x="761970" y="685800"/>
            <a:ext cx="66673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spc="200" kern="0" dirty="0">
                <a:solidFill>
                  <a:srgbClr val="7C8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ESTUN AUTOMATION · 2026 H1 RESULTS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761970" y="1600200"/>
            <a:ext cx="9524756" cy="838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埃斯顿 2026 中期业绩</a:t>
            </a:r>
            <a:endParaRPr lang="en-US" sz="3730" dirty="0"/>
          </a:p>
        </p:txBody>
      </p:sp>
      <p:sp>
        <p:nvSpPr>
          <p:cNvPr id="8" name="Shape 6"/>
          <p:cNvSpPr/>
          <p:nvPr/>
        </p:nvSpPr>
        <p:spPr>
          <a:xfrm>
            <a:off x="761970" y="2724089"/>
            <a:ext cx="609539" cy="3813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9" name="Text 7"/>
          <p:cNvSpPr/>
          <p:nvPr/>
        </p:nvSpPr>
        <p:spPr>
          <a:xfrm>
            <a:off x="761970" y="3009839"/>
            <a:ext cx="9524756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B8C2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布局版式参考 · 数据源自公司《2026 年半年度报告》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761970" y="4571909"/>
            <a:ext cx="3428909" cy="1219170"/>
          </a:xfrm>
          <a:prstGeom prst="roundRect">
            <a:avLst>
              <a:gd name="adj" fmla="val 109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970" y="4819528"/>
            <a:ext cx="342890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25.78 亿元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70" y="5276728"/>
            <a:ext cx="34289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9AA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 · 同比 +1.14%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381348" y="4571909"/>
            <a:ext cx="3428909" cy="1219170"/>
          </a:xfrm>
          <a:prstGeom prst="roundRect">
            <a:avLst>
              <a:gd name="adj" fmla="val 109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1348" y="4819528"/>
            <a:ext cx="342890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+2,314%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1348" y="5276728"/>
            <a:ext cx="34289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9AA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归母净利润增速 · 1.61 亿元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000817" y="4571909"/>
            <a:ext cx="3428909" cy="1219170"/>
          </a:xfrm>
          <a:prstGeom prst="roundRect">
            <a:avLst>
              <a:gd name="adj" fmla="val 109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0817" y="4819528"/>
            <a:ext cx="342890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31.81%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00817" y="5276728"/>
            <a:ext cx="34289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9AA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综合毛利率 · 同比 +4.17pct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61970" y="6324448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版式：封面 / 轨道装饰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MAP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业务版图：一体两翼，全球延伸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2762220" y="1857329"/>
            <a:ext cx="857250" cy="1857329"/>
          </a:xfrm>
          <a:custGeom>
            <a:avLst/>
            <a:gdLst/>
            <a:ahLst/>
            <a:cxnLst/>
            <a:rect l="l" t="t" r="r" b="b"/>
            <a:pathLst>
              <a:path w="857250" h="1857329">
                <a:moveTo>
                  <a:pt x="0" y="1857329"/>
                </a:moveTo>
                <a:cubicBezTo>
                  <a:pt x="428579" y="1857329"/>
                  <a:pt x="428579" y="0"/>
                  <a:pt x="857250" y="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62220" y="2905049"/>
            <a:ext cx="857250" cy="809610"/>
          </a:xfrm>
          <a:custGeom>
            <a:avLst/>
            <a:gdLst/>
            <a:ahLst/>
            <a:cxnLst/>
            <a:rect l="l" t="t" r="r" b="b"/>
            <a:pathLst>
              <a:path w="857250" h="809610">
                <a:moveTo>
                  <a:pt x="0" y="809610"/>
                </a:moveTo>
                <a:cubicBezTo>
                  <a:pt x="428579" y="809610"/>
                  <a:pt x="428579" y="0"/>
                  <a:pt x="857250" y="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62220" y="3714659"/>
            <a:ext cx="857250" cy="238110"/>
          </a:xfrm>
          <a:custGeom>
            <a:avLst/>
            <a:gdLst/>
            <a:ahLst/>
            <a:cxnLst/>
            <a:rect l="l" t="t" r="r" b="b"/>
            <a:pathLst>
              <a:path w="857250" h="238110">
                <a:moveTo>
                  <a:pt x="0" y="0"/>
                </a:moveTo>
                <a:cubicBezTo>
                  <a:pt x="428579" y="0"/>
                  <a:pt x="428579" y="238110"/>
                  <a:pt x="857250" y="23811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62220" y="3714659"/>
            <a:ext cx="857250" cy="1285829"/>
          </a:xfrm>
          <a:custGeom>
            <a:avLst/>
            <a:gdLst/>
            <a:ahLst/>
            <a:cxnLst/>
            <a:rect l="l" t="t" r="r" b="b"/>
            <a:pathLst>
              <a:path w="857250" h="1285829">
                <a:moveTo>
                  <a:pt x="0" y="0"/>
                </a:moveTo>
                <a:cubicBezTo>
                  <a:pt x="428579" y="0"/>
                  <a:pt x="428579" y="1285829"/>
                  <a:pt x="857250" y="1285829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" y="3238439"/>
            <a:ext cx="2190720" cy="952439"/>
          </a:xfrm>
          <a:prstGeom prst="roundRect">
            <a:avLst>
              <a:gd name="adj" fmla="val 16004"/>
            </a:avLst>
          </a:prstGeom>
          <a:solidFill>
            <a:srgbClr val="0C1B2E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3238439"/>
            <a:ext cx="609539" cy="952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1039" y="3352739"/>
            <a:ext cx="158108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埃斯顿自动化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1181039" y="3657509"/>
            <a:ext cx="15810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业务版图 · 2026H1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19378" y="1438260"/>
            <a:ext cx="2857409" cy="838139"/>
          </a:xfrm>
          <a:prstGeom prst="roundRect">
            <a:avLst>
              <a:gd name="adj" fmla="val 15907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9378" y="1438260"/>
            <a:ext cx="47640" cy="838139"/>
          </a:xfrm>
          <a:prstGeom prst="roundRect">
            <a:avLst>
              <a:gd name="adj" fmla="val 39923"/>
            </a:avLst>
          </a:prstGeom>
          <a:solidFill>
            <a:srgbClr val="F26B21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7978" y="1647749"/>
            <a:ext cx="419070" cy="419070"/>
          </a:xfrm>
          <a:prstGeom prst="roundRect">
            <a:avLst>
              <a:gd name="adj" fmla="val 22736"/>
            </a:avLst>
          </a:prstGeom>
          <a:solidFill>
            <a:srgbClr val="EBDFD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7978" y="1647749"/>
            <a:ext cx="419070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4381348" y="1495410"/>
            <a:ext cx="200015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工业机器人及智能制造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4381348" y="1800179"/>
            <a:ext cx="20001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21.38 亿元 · 占比 82.96%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1348" y="2028779"/>
            <a:ext cx="2000159" cy="20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+2.21%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619378" y="2485979"/>
            <a:ext cx="2857409" cy="838139"/>
          </a:xfrm>
          <a:prstGeom prst="roundRect">
            <a:avLst>
              <a:gd name="adj" fmla="val 15907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9378" y="2485979"/>
            <a:ext cx="47640" cy="838139"/>
          </a:xfrm>
          <a:prstGeom prst="roundRect">
            <a:avLst>
              <a:gd name="adj" fmla="val 39923"/>
            </a:avLst>
          </a:prstGeom>
          <a:solidFill>
            <a:srgbClr val="4A7BA6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7978" y="2695468"/>
            <a:ext cx="419070" cy="419070"/>
          </a:xfrm>
          <a:prstGeom prst="roundRect">
            <a:avLst>
              <a:gd name="adj" fmla="val 22736"/>
            </a:avLst>
          </a:prstGeom>
          <a:solidFill>
            <a:srgbClr val="D9DEE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7978" y="2695468"/>
            <a:ext cx="419070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4381348" y="2543129"/>
            <a:ext cx="200015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自动化核心部件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4381348" y="2847899"/>
            <a:ext cx="20001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4.39 亿元 · 占比 17.04%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81348" y="3076499"/>
            <a:ext cx="2000159" cy="20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4A7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 32.40%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3619378" y="3533699"/>
            <a:ext cx="2857409" cy="838139"/>
          </a:xfrm>
          <a:prstGeom prst="roundRect">
            <a:avLst>
              <a:gd name="adj" fmla="val 15907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9378" y="3533699"/>
            <a:ext cx="47640" cy="838139"/>
          </a:xfrm>
          <a:prstGeom prst="roundRect">
            <a:avLst>
              <a:gd name="adj" fmla="val 39923"/>
            </a:avLst>
          </a:prstGeom>
          <a:solidFill>
            <a:srgbClr val="8FA3D9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7978" y="3743188"/>
            <a:ext cx="419070" cy="419070"/>
          </a:xfrm>
          <a:prstGeom prst="roundRect">
            <a:avLst>
              <a:gd name="adj" fmla="val 22736"/>
            </a:avLst>
          </a:prstGeom>
          <a:solidFill>
            <a:srgbClr val="E9EBE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7978" y="3743188"/>
            <a:ext cx="419070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1470" dirty="0"/>
          </a:p>
        </p:txBody>
      </p:sp>
      <p:sp>
        <p:nvSpPr>
          <p:cNvPr id="32" name="Text 30"/>
          <p:cNvSpPr/>
          <p:nvPr/>
        </p:nvSpPr>
        <p:spPr>
          <a:xfrm>
            <a:off x="4381348" y="3590849"/>
            <a:ext cx="200015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海外业务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4381348" y="3895618"/>
            <a:ext cx="20001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9.36 亿元 · 占比 36.33%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81348" y="4124218"/>
            <a:ext cx="2000159" cy="20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+25.06%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3619378" y="4581418"/>
            <a:ext cx="2857409" cy="838139"/>
          </a:xfrm>
          <a:prstGeom prst="roundRect">
            <a:avLst>
              <a:gd name="adj" fmla="val 15907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9378" y="4581418"/>
            <a:ext cx="47640" cy="838139"/>
          </a:xfrm>
          <a:prstGeom prst="roundRect">
            <a:avLst>
              <a:gd name="adj" fmla="val 39923"/>
            </a:avLst>
          </a:prstGeom>
          <a:solidFill>
            <a:srgbClr val="0C1B2E"/>
          </a:solidFill>
          <a:ln/>
        </p:spPr>
      </p:sp>
      <p:sp>
        <p:nvSpPr>
          <p:cNvPr id="37" name="Shape 35"/>
          <p:cNvSpPr/>
          <p:nvPr/>
        </p:nvSpPr>
        <p:spPr>
          <a:xfrm>
            <a:off x="3847978" y="4790999"/>
            <a:ext cx="419070" cy="419070"/>
          </a:xfrm>
          <a:prstGeom prst="roundRect">
            <a:avLst>
              <a:gd name="adj" fmla="val 22736"/>
            </a:avLst>
          </a:prstGeom>
          <a:solidFill>
            <a:srgbClr val="BBC5D2"/>
          </a:solidFill>
          <a:ln/>
        </p:spPr>
      </p:sp>
      <p:sp>
        <p:nvSpPr>
          <p:cNvPr id="38" name="Text 36"/>
          <p:cNvSpPr/>
          <p:nvPr/>
        </p:nvSpPr>
        <p:spPr>
          <a:xfrm>
            <a:off x="3847978" y="4790999"/>
            <a:ext cx="419070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</a:t>
            </a:r>
            <a:endParaRPr lang="en-US" sz="1470" dirty="0"/>
          </a:p>
        </p:txBody>
      </p:sp>
      <p:sp>
        <p:nvSpPr>
          <p:cNvPr id="39" name="Text 37"/>
          <p:cNvSpPr/>
          <p:nvPr/>
        </p:nvSpPr>
        <p:spPr>
          <a:xfrm>
            <a:off x="4381348" y="4638568"/>
            <a:ext cx="200015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后服务与具身智能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4381348" y="4943338"/>
            <a:ext cx="20001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新增长曲线 · 培育期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81348" y="5171938"/>
            <a:ext cx="2000159" cy="20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C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机器人+AI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7048287" y="1571579"/>
            <a:ext cx="45719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 31.69%（同比 +4.69pct）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7048287" y="1876349"/>
            <a:ext cx="4571909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全品牌出货量连续六个季度第一，连续八年国产品牌第一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48287" y="2619299"/>
            <a:ext cx="45719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-3.78%：主动优化客户结构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7048287" y="2924068"/>
            <a:ext cx="4571909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受行业波动与转让子公司影响小幅下滑，毛利率仍 +1.82pct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48287" y="3667018"/>
            <a:ext cx="45719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收入占比 36.33%（+6.95pct）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7048287" y="3971788"/>
            <a:ext cx="4571909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欧洲头部客户放量 · 波兰基地投运 · A+H 双资本平台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48287" y="4714738"/>
            <a:ext cx="45719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保有量增长 + 替代周期放量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7048287" y="5019507"/>
            <a:ext cx="4571909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后服务市场成新盈利点 · 具身智能工业场景加速落地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9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版式：left-hub 脑图（connector-s 虚线 S 连接）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15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CHALLENGE &amp; RESPONSE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挑战与应对：双圆环形对峙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2000159" y="1619220"/>
            <a:ext cx="4762378" cy="4762378"/>
          </a:xfrm>
          <a:prstGeom prst="ellipse">
            <a:avLst/>
          </a:prstGeom>
          <a:solidFill>
            <a:srgbClr val="F26B21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29159" y="1619220"/>
            <a:ext cx="4762378" cy="4762378"/>
          </a:xfrm>
          <a:prstGeom prst="ellipse">
            <a:avLst/>
          </a:prstGeom>
          <a:solidFill>
            <a:srgbClr val="0C1B2E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86079" y="2905049"/>
            <a:ext cx="2190720" cy="2190720"/>
          </a:xfrm>
          <a:custGeom>
            <a:avLst/>
            <a:gdLst/>
            <a:ahLst/>
            <a:cxnLst/>
            <a:rect l="l" t="t" r="r" b="b"/>
            <a:pathLst>
              <a:path w="2190720" h="2190720">
                <a:moveTo>
                  <a:pt x="809610" y="2152589"/>
                </a:moveTo>
                <a:arcTo hR="1095360" wR="1095360" stAng="6300000" swAng="9000000"/>
              </a:path>
            </a:pathLst>
          </a:custGeom>
          <a:noFill/>
          <a:ln w="25400">
            <a:solidFill>
              <a:srgbClr val="F26B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14988" y="2905049"/>
            <a:ext cx="2190720" cy="2190720"/>
          </a:xfrm>
          <a:custGeom>
            <a:avLst/>
            <a:gdLst/>
            <a:ahLst/>
            <a:cxnLst/>
            <a:rect l="l" t="t" r="r" b="b"/>
            <a:pathLst>
              <a:path w="2190720" h="2190720">
                <a:moveTo>
                  <a:pt x="1381110" y="38130"/>
                </a:moveTo>
                <a:arcTo hR="1095360" wR="1095360" stAng="17100000" swAng="9000000"/>
              </a:path>
            </a:pathLst>
          </a:custGeom>
          <a:noFill/>
          <a:ln w="25400">
            <a:solidFill>
              <a:srgbClr val="0C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3209" y="3162178"/>
            <a:ext cx="1676370" cy="1676370"/>
          </a:xfrm>
          <a:prstGeom prst="ellipse">
            <a:avLst/>
          </a:prstGeom>
          <a:solidFill>
            <a:srgbClr val="F26B21"/>
          </a:solidFill>
          <a:ln w="190500">
            <a:solidFill>
              <a:srgbClr val="EB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0409" y="3390778"/>
            <a:ext cx="7619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2670" dirty="0"/>
          </a:p>
        </p:txBody>
      </p:sp>
      <p:sp>
        <p:nvSpPr>
          <p:cNvPr id="12" name="Text 10"/>
          <p:cNvSpPr/>
          <p:nvPr/>
        </p:nvSpPr>
        <p:spPr>
          <a:xfrm>
            <a:off x="3667018" y="4076578"/>
            <a:ext cx="1428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当前的挑战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72117" y="3162178"/>
            <a:ext cx="1676370" cy="1676370"/>
          </a:xfrm>
          <a:prstGeom prst="ellipse">
            <a:avLst/>
          </a:prstGeom>
          <a:solidFill>
            <a:srgbClr val="0C1B2E"/>
          </a:solidFill>
          <a:ln w="190500">
            <a:solidFill>
              <a:srgbClr val="BBC5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9317" y="3390778"/>
            <a:ext cx="7619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670" dirty="0"/>
          </a:p>
        </p:txBody>
      </p:sp>
      <p:sp>
        <p:nvSpPr>
          <p:cNvPr id="15" name="Text 13"/>
          <p:cNvSpPr/>
          <p:nvPr/>
        </p:nvSpPr>
        <p:spPr>
          <a:xfrm>
            <a:off x="7095927" y="4076578"/>
            <a:ext cx="1428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应对与对冲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7250" y="2762220"/>
            <a:ext cx="2381189" cy="419070"/>
          </a:xfrm>
          <a:prstGeom prst="roundRect">
            <a:avLst>
              <a:gd name="adj" fmla="val 50011"/>
            </a:avLst>
          </a:prstGeom>
          <a:solidFill>
            <a:srgbClr val="F26B21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" y="2762220"/>
            <a:ext cx="238118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 境内收入 -8.82%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857250" y="3276478"/>
            <a:ext cx="3047878" cy="666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主动压降低毛利业务、转让子公司所致，境内 16.41 亿元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57250" y="4476628"/>
            <a:ext cx="2381189" cy="419070"/>
          </a:xfrm>
          <a:prstGeom prst="roundRect">
            <a:avLst>
              <a:gd name="adj" fmla="val 50011"/>
            </a:avLst>
          </a:prstGeom>
          <a:solidFill>
            <a:srgbClr val="F26B21"/>
          </a:solidFill>
          <a:ln/>
        </p:spPr>
      </p:sp>
      <p:sp>
        <p:nvSpPr>
          <p:cNvPr id="20" name="Text 18"/>
          <p:cNvSpPr/>
          <p:nvPr/>
        </p:nvSpPr>
        <p:spPr>
          <a:xfrm>
            <a:off x="857250" y="4476628"/>
            <a:ext cx="238118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减值计提增加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57250" y="4990978"/>
            <a:ext cx="3047878" cy="666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基于谨慎性原则，对应收账款、存货计提减值同比增加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953256" y="2762220"/>
            <a:ext cx="2571659" cy="419070"/>
          </a:xfrm>
          <a:prstGeom prst="roundRect">
            <a:avLst>
              <a:gd name="adj" fmla="val 50011"/>
            </a:avLst>
          </a:prstGeom>
          <a:solidFill>
            <a:srgbClr val="0C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8953256" y="2762220"/>
            <a:ext cx="257165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海外 +25.06% 对冲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8953256" y="3276478"/>
            <a:ext cx="3047878" cy="666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 9.36 亿元，占比升至 36.33%，欧洲订单快速增长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953256" y="4476628"/>
            <a:ext cx="2571659" cy="419070"/>
          </a:xfrm>
          <a:prstGeom prst="roundRect">
            <a:avLst>
              <a:gd name="adj" fmla="val 50011"/>
            </a:avLst>
          </a:prstGeom>
          <a:solidFill>
            <a:srgbClr val="0C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953256" y="4476628"/>
            <a:ext cx="257165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现金流转正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8953256" y="4990978"/>
            <a:ext cx="3047878" cy="666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经营现金流 +0.45 亿元转正，毛利率 +4.17pct 结构优化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版式：双圆环形对峙（光晕 + 开口轮廓弧 + 外侧胶囊）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15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FLYWHEEL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高质量发展闭环：四段飞轮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4190878" y="1809689"/>
            <a:ext cx="3809939" cy="3809939"/>
          </a:xfrm>
          <a:custGeom>
            <a:avLst/>
            <a:gdLst/>
            <a:ahLst/>
            <a:cxnLst/>
            <a:rect l="l" t="t" r="r" b="b"/>
            <a:pathLst>
              <a:path w="3809939" h="3809939">
                <a:moveTo>
                  <a:pt x="2070933" y="7224"/>
                </a:moveTo>
                <a:arcTo hR="1904970" wR="1904970" stAng="-5100000" swAng="5100000"/>
                <a:lnTo>
                  <a:pt x="3508461" y="2130278"/>
                </a:lnTo>
                <a:lnTo>
                  <a:pt x="3238439" y="1904970"/>
                </a:lnTo>
                <a:arcTo hR="1333470" wR="1333470" stAng="0" swAng="-5100000"/>
                <a:lnTo>
                  <a:pt x="2269175" y="327264"/>
                </a:lnTo>
                <a:close/>
              </a:path>
            </a:pathLst>
          </a:custGeom>
          <a:solidFill>
            <a:srgbClr val="4A7BA6"/>
          </a:solidFill>
          <a:ln/>
        </p:spPr>
      </p:sp>
      <p:sp>
        <p:nvSpPr>
          <p:cNvPr id="7" name="Shape 5"/>
          <p:cNvSpPr/>
          <p:nvPr/>
        </p:nvSpPr>
        <p:spPr>
          <a:xfrm>
            <a:off x="4190878" y="1809689"/>
            <a:ext cx="3809939" cy="3809939"/>
          </a:xfrm>
          <a:custGeom>
            <a:avLst/>
            <a:gdLst/>
            <a:ahLst/>
            <a:cxnLst/>
            <a:rect l="l" t="t" r="r" b="b"/>
            <a:pathLst>
              <a:path w="3809939" h="3809939">
                <a:moveTo>
                  <a:pt x="3802624" y="2070933"/>
                </a:moveTo>
                <a:arcTo hR="1904970" wR="1904970" stAng="300000" swAng="5100000"/>
                <a:lnTo>
                  <a:pt x="1679570" y="3508461"/>
                </a:lnTo>
                <a:lnTo>
                  <a:pt x="1904970" y="3238439"/>
                </a:lnTo>
                <a:arcTo hR="1333470" wR="1333470" stAng="5400000" swAng="-5100000"/>
                <a:lnTo>
                  <a:pt x="3482675" y="2269175"/>
                </a:lnTo>
                <a:close/>
              </a:path>
            </a:pathLst>
          </a:custGeom>
          <a:solidFill>
            <a:srgbClr val="F26B21"/>
          </a:solidFill>
          <a:ln/>
        </p:spPr>
      </p:sp>
      <p:sp>
        <p:nvSpPr>
          <p:cNvPr id="8" name="Shape 6"/>
          <p:cNvSpPr/>
          <p:nvPr/>
        </p:nvSpPr>
        <p:spPr>
          <a:xfrm>
            <a:off x="4190878" y="1809689"/>
            <a:ext cx="3809939" cy="3809939"/>
          </a:xfrm>
          <a:custGeom>
            <a:avLst/>
            <a:gdLst/>
            <a:ahLst/>
            <a:cxnLst/>
            <a:rect l="l" t="t" r="r" b="b"/>
            <a:pathLst>
              <a:path w="3809939" h="3809939">
                <a:moveTo>
                  <a:pt x="1738914" y="3802624"/>
                </a:moveTo>
                <a:arcTo hR="1904970" wR="1904970" stAng="5700000" swAng="5100000"/>
                <a:lnTo>
                  <a:pt x="301478" y="1679570"/>
                </a:lnTo>
                <a:lnTo>
                  <a:pt x="571500" y="1904970"/>
                </a:lnTo>
                <a:arcTo hR="1333470" wR="1333470" stAng="10800000" swAng="-5100000"/>
                <a:lnTo>
                  <a:pt x="1540764" y="3482675"/>
                </a:lnTo>
                <a:close/>
              </a:path>
            </a:pathLst>
          </a:custGeom>
          <a:solidFill>
            <a:srgbClr val="8FA3D9"/>
          </a:solidFill>
          <a:ln/>
        </p:spPr>
      </p:sp>
      <p:sp>
        <p:nvSpPr>
          <p:cNvPr id="9" name="Shape 7"/>
          <p:cNvSpPr/>
          <p:nvPr/>
        </p:nvSpPr>
        <p:spPr>
          <a:xfrm>
            <a:off x="4190878" y="1809689"/>
            <a:ext cx="3809939" cy="3809939"/>
          </a:xfrm>
          <a:custGeom>
            <a:avLst/>
            <a:gdLst/>
            <a:ahLst/>
            <a:cxnLst/>
            <a:rect l="l" t="t" r="r" b="b"/>
            <a:pathLst>
              <a:path w="3809939" h="3809939">
                <a:moveTo>
                  <a:pt x="7224" y="1738914"/>
                </a:moveTo>
                <a:arcTo hR="1904970" wR="1904970" stAng="11100000" swAng="5100000"/>
                <a:lnTo>
                  <a:pt x="2130278" y="301478"/>
                </a:lnTo>
                <a:lnTo>
                  <a:pt x="1904970" y="571500"/>
                </a:lnTo>
                <a:arcTo hR="1333470" wR="1333470" stAng="16200000" swAng="-5100000"/>
                <a:lnTo>
                  <a:pt x="327264" y="1540764"/>
                </a:lnTo>
                <a:close/>
              </a:path>
            </a:pathLst>
          </a:custGeom>
          <a:solidFill>
            <a:srgbClr val="0C1B2E"/>
          </a:solidFill>
          <a:ln/>
        </p:spPr>
      </p:sp>
      <p:sp>
        <p:nvSpPr>
          <p:cNvPr id="10" name="Shape 8"/>
          <p:cNvSpPr/>
          <p:nvPr/>
        </p:nvSpPr>
        <p:spPr>
          <a:xfrm>
            <a:off x="5381518" y="3000329"/>
            <a:ext cx="1428750" cy="1428750"/>
          </a:xfrm>
          <a:prstGeom prst="ellipse">
            <a:avLst/>
          </a:prstGeom>
          <a:solidFill>
            <a:srgbClr val="0C1B2E"/>
          </a:solidFill>
          <a:ln/>
        </p:spPr>
      </p:sp>
      <p:sp>
        <p:nvSpPr>
          <p:cNvPr id="11" name="Text 9"/>
          <p:cNvSpPr/>
          <p:nvPr/>
        </p:nvSpPr>
        <p:spPr>
          <a:xfrm>
            <a:off x="5381518" y="3000329"/>
            <a:ext cx="142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质量飞轮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095927" y="2428829"/>
            <a:ext cx="381030" cy="38103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927" y="2428829"/>
            <a:ext cx="381030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95927" y="4619549"/>
            <a:ext cx="381030" cy="38103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927" y="4619549"/>
            <a:ext cx="381030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14738" y="4619549"/>
            <a:ext cx="381030" cy="38103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FA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4738" y="4619549"/>
            <a:ext cx="381030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14738" y="2428829"/>
            <a:ext cx="381030" cy="38103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1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4738" y="2428829"/>
            <a:ext cx="381030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77037" y="1619220"/>
            <a:ext cx="2857409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77037" y="1619220"/>
            <a:ext cx="2857409" cy="38130"/>
          </a:xfrm>
          <a:prstGeom prst="roundRect">
            <a:avLst>
              <a:gd name="adj" fmla="val 49881"/>
            </a:avLst>
          </a:prstGeom>
          <a:solidFill>
            <a:srgbClr val="4A7BA6"/>
          </a:solidFill>
          <a:ln/>
        </p:spPr>
      </p:sp>
      <p:sp>
        <p:nvSpPr>
          <p:cNvPr id="22" name="Text 20"/>
          <p:cNvSpPr/>
          <p:nvPr/>
        </p:nvSpPr>
        <p:spPr>
          <a:xfrm>
            <a:off x="8705637" y="1752539"/>
            <a:ext cx="24002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结构优化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8705637" y="2057309"/>
            <a:ext cx="2400209" cy="41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压降低毛利业务，综合毛利率 +4.17pct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77037" y="5524348"/>
            <a:ext cx="2857409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7037" y="5524348"/>
            <a:ext cx="2857409" cy="38130"/>
          </a:xfrm>
          <a:prstGeom prst="roundRect">
            <a:avLst>
              <a:gd name="adj" fmla="val 49881"/>
            </a:avLst>
          </a:prstGeom>
          <a:solidFill>
            <a:srgbClr val="F26B21"/>
          </a:solidFill>
          <a:ln/>
        </p:spPr>
      </p:sp>
      <p:sp>
        <p:nvSpPr>
          <p:cNvPr id="26" name="Text 24"/>
          <p:cNvSpPr/>
          <p:nvPr/>
        </p:nvSpPr>
        <p:spPr>
          <a:xfrm>
            <a:off x="8705637" y="5657667"/>
            <a:ext cx="24002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降本增效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8705637" y="5962528"/>
            <a:ext cx="2400209" cy="41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销售费用 -6.5%、财务费用 -9.9%，供应链国产替代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7250" y="5524348"/>
            <a:ext cx="2857409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7250" y="5524348"/>
            <a:ext cx="2857409" cy="38130"/>
          </a:xfrm>
          <a:prstGeom prst="roundRect">
            <a:avLst>
              <a:gd name="adj" fmla="val 49881"/>
            </a:avLst>
          </a:prstGeom>
          <a:solidFill>
            <a:srgbClr val="8FA3D9"/>
          </a:solidFill>
          <a:ln/>
        </p:spPr>
      </p:sp>
      <p:sp>
        <p:nvSpPr>
          <p:cNvPr id="30" name="Text 28"/>
          <p:cNvSpPr/>
          <p:nvPr/>
        </p:nvSpPr>
        <p:spPr>
          <a:xfrm>
            <a:off x="1085850" y="5657667"/>
            <a:ext cx="24002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全球化放量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1085850" y="5962528"/>
            <a:ext cx="2400209" cy="41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 +25.06%，波兰基地投运，欧洲订单增长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57250" y="1619220"/>
            <a:ext cx="2857409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7250" y="1619220"/>
            <a:ext cx="2857409" cy="38130"/>
          </a:xfrm>
          <a:prstGeom prst="roundRect">
            <a:avLst>
              <a:gd name="adj" fmla="val 49881"/>
            </a:avLst>
          </a:prstGeom>
          <a:solidFill>
            <a:srgbClr val="0C1B2E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850" y="1752539"/>
            <a:ext cx="24002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现金流改善再投入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1085850" y="2057309"/>
            <a:ext cx="2400209" cy="41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经营现金流 +0.45 亿转正，研发投入 2.50 亿（9.70%）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版式：弧形轨道流（arc-segment 带箭头 + 中角徽章）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15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PYRAMID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战略金字塔：从底座到塔尖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2295510" y="1619220"/>
            <a:ext cx="1119134" cy="1119134"/>
          </a:xfrm>
          <a:custGeom>
            <a:avLst/>
            <a:gdLst/>
            <a:ahLst/>
            <a:cxnLst/>
            <a:rect l="l" t="t" r="r" b="b"/>
            <a:pathLst>
              <a:path w="1119134" h="1119134">
                <a:moveTo>
                  <a:pt x="559613" y="0"/>
                </a:moveTo>
                <a:lnTo>
                  <a:pt x="0" y="1119134"/>
                </a:lnTo>
                <a:lnTo>
                  <a:pt x="1119134" y="1119134"/>
                </a:lnTo>
                <a:close/>
              </a:path>
            </a:pathLst>
          </a:custGeom>
          <a:solidFill>
            <a:srgbClr val="F26B21"/>
          </a:solidFill>
          <a:ln/>
        </p:spPr>
      </p:sp>
      <p:sp>
        <p:nvSpPr>
          <p:cNvPr id="7" name="Shape 5"/>
          <p:cNvSpPr/>
          <p:nvPr/>
        </p:nvSpPr>
        <p:spPr>
          <a:xfrm>
            <a:off x="1690634" y="2833634"/>
            <a:ext cx="2333549" cy="1119134"/>
          </a:xfrm>
          <a:custGeom>
            <a:avLst/>
            <a:gdLst/>
            <a:ahLst/>
            <a:cxnLst/>
            <a:rect l="l" t="t" r="r" b="b"/>
            <a:pathLst>
              <a:path w="2333549" h="1119134">
                <a:moveTo>
                  <a:pt x="559613" y="0"/>
                </a:moveTo>
                <a:lnTo>
                  <a:pt x="0" y="1119134"/>
                </a:lnTo>
                <a:lnTo>
                  <a:pt x="2333549" y="1119134"/>
                </a:lnTo>
                <a:lnTo>
                  <a:pt x="1774027" y="0"/>
                </a:lnTo>
                <a:close/>
              </a:path>
            </a:pathLst>
          </a:custGeom>
          <a:solidFill>
            <a:srgbClr val="4A7BA6"/>
          </a:solidFill>
          <a:ln/>
        </p:spPr>
      </p:sp>
      <p:sp>
        <p:nvSpPr>
          <p:cNvPr id="8" name="Shape 6"/>
          <p:cNvSpPr/>
          <p:nvPr/>
        </p:nvSpPr>
        <p:spPr>
          <a:xfrm>
            <a:off x="1083473" y="4048049"/>
            <a:ext cx="3547963" cy="1119134"/>
          </a:xfrm>
          <a:custGeom>
            <a:avLst/>
            <a:gdLst/>
            <a:ahLst/>
            <a:cxnLst/>
            <a:rect l="l" t="t" r="r" b="b"/>
            <a:pathLst>
              <a:path w="3547963" h="1119134">
                <a:moveTo>
                  <a:pt x="559613" y="0"/>
                </a:moveTo>
                <a:lnTo>
                  <a:pt x="0" y="1119134"/>
                </a:lnTo>
                <a:lnTo>
                  <a:pt x="3547963" y="1119134"/>
                </a:lnTo>
                <a:lnTo>
                  <a:pt x="2988351" y="0"/>
                </a:lnTo>
                <a:close/>
              </a:path>
            </a:pathLst>
          </a:custGeom>
          <a:solidFill>
            <a:srgbClr val="8FA3D9"/>
          </a:solidFill>
          <a:ln/>
        </p:spPr>
      </p:sp>
      <p:sp>
        <p:nvSpPr>
          <p:cNvPr id="9" name="Shape 7"/>
          <p:cNvSpPr/>
          <p:nvPr/>
        </p:nvSpPr>
        <p:spPr>
          <a:xfrm>
            <a:off x="476220" y="5262463"/>
            <a:ext cx="4762378" cy="1119134"/>
          </a:xfrm>
          <a:custGeom>
            <a:avLst/>
            <a:gdLst/>
            <a:ahLst/>
            <a:cxnLst/>
            <a:rect l="l" t="t" r="r" b="b"/>
            <a:pathLst>
              <a:path w="4762378" h="1119134">
                <a:moveTo>
                  <a:pt x="559613" y="0"/>
                </a:moveTo>
                <a:lnTo>
                  <a:pt x="0" y="1119134"/>
                </a:lnTo>
                <a:lnTo>
                  <a:pt x="4762378" y="1119134"/>
                </a:lnTo>
                <a:lnTo>
                  <a:pt x="4202765" y="0"/>
                </a:lnTo>
                <a:close/>
              </a:path>
            </a:pathLst>
          </a:custGeom>
          <a:solidFill>
            <a:srgbClr val="0C1B2E"/>
          </a:solidFill>
          <a:ln/>
        </p:spPr>
      </p:sp>
      <p:sp>
        <p:nvSpPr>
          <p:cNvPr id="10" name="Text 8"/>
          <p:cNvSpPr/>
          <p:nvPr/>
        </p:nvSpPr>
        <p:spPr>
          <a:xfrm>
            <a:off x="2295510" y="1619220"/>
            <a:ext cx="1119134" cy="111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670" dirty="0"/>
          </a:p>
        </p:txBody>
      </p:sp>
      <p:sp>
        <p:nvSpPr>
          <p:cNvPr id="11" name="Text 9"/>
          <p:cNvSpPr/>
          <p:nvPr/>
        </p:nvSpPr>
        <p:spPr>
          <a:xfrm>
            <a:off x="1690634" y="2833634"/>
            <a:ext cx="2333549" cy="111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2930" dirty="0"/>
          </a:p>
        </p:txBody>
      </p:sp>
      <p:sp>
        <p:nvSpPr>
          <p:cNvPr id="12" name="Text 10"/>
          <p:cNvSpPr/>
          <p:nvPr/>
        </p:nvSpPr>
        <p:spPr>
          <a:xfrm>
            <a:off x="1083473" y="4048049"/>
            <a:ext cx="3547963" cy="111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</a:t>
            </a:r>
            <a:endParaRPr lang="en-US" sz="2930" dirty="0"/>
          </a:p>
        </p:txBody>
      </p:sp>
      <p:sp>
        <p:nvSpPr>
          <p:cNvPr id="13" name="Text 11"/>
          <p:cNvSpPr/>
          <p:nvPr/>
        </p:nvSpPr>
        <p:spPr>
          <a:xfrm>
            <a:off x="476220" y="5262463"/>
            <a:ext cx="4762378" cy="111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</a:t>
            </a:r>
            <a:endParaRPr lang="en-US" sz="2930" dirty="0"/>
          </a:p>
        </p:txBody>
      </p:sp>
      <p:sp>
        <p:nvSpPr>
          <p:cNvPr id="14" name="Shape 12"/>
          <p:cNvSpPr/>
          <p:nvPr/>
        </p:nvSpPr>
        <p:spPr>
          <a:xfrm>
            <a:off x="3724168" y="1619220"/>
            <a:ext cx="4762378" cy="1119134"/>
          </a:xfrm>
          <a:prstGeom prst="roundRect">
            <a:avLst>
              <a:gd name="adj" fmla="val 6806"/>
            </a:avLst>
          </a:prstGeom>
          <a:solidFill>
            <a:srgbClr val="F26B21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952768" y="1733520"/>
            <a:ext cx="4305178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塔尖 · 全球第一梯队目标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952768" y="2019270"/>
            <a:ext cx="4305178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从国产替代龙头，走向全球工业机器人第一梯队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333799" y="2833634"/>
            <a:ext cx="4762378" cy="1119134"/>
          </a:xfrm>
          <a:prstGeom prst="roundRect">
            <a:avLst>
              <a:gd name="adj" fmla="val 6806"/>
            </a:avLst>
          </a:prstGeom>
          <a:solidFill>
            <a:srgbClr val="4A7BA6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62399" y="2947934"/>
            <a:ext cx="4305178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市场地位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562399" y="3233684"/>
            <a:ext cx="4305178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连续八年国产品牌出货量第一，连续六季度全品牌榜首（MIR）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933828" y="4048049"/>
            <a:ext cx="4762378" cy="1119134"/>
          </a:xfrm>
          <a:prstGeom prst="roundRect">
            <a:avLst>
              <a:gd name="adj" fmla="val 6806"/>
            </a:avLst>
          </a:prstGeom>
          <a:solidFill>
            <a:srgbClr val="8FA3D9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62428" y="4162349"/>
            <a:ext cx="4305178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业务支柱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5162428" y="4448099"/>
            <a:ext cx="4305178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82.96% + 核心部件 17.04%；海外收入占比 36.33%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543367" y="5262463"/>
            <a:ext cx="4762378" cy="1119134"/>
          </a:xfrm>
          <a:prstGeom prst="roundRect">
            <a:avLst>
              <a:gd name="adj" fmla="val 6806"/>
            </a:avLst>
          </a:prstGeom>
          <a:solidFill>
            <a:srgbClr val="0C1B2E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71967" y="5376763"/>
            <a:ext cx="4305178" cy="24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基底 · 研发与制造底座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771967" y="5662513"/>
            <a:ext cx="4305178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研发投入 2.50 亿元（占收入 9.70%）；CNAS/TÜV/UL 实验室体系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版式：金字塔（shape-path 三角/梯形分层）</a:t>
            </a:r>
            <a:endParaRPr lang="en-US" sz="670" dirty="0"/>
          </a:p>
        </p:txBody>
      </p:sp>
      <p:sp>
        <p:nvSpPr>
          <p:cNvPr id="28" name="Text 26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15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ANALYSIS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分析：中报透视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476220" y="1428750"/>
            <a:ext cx="2714579" cy="1333470"/>
          </a:xfrm>
          <a:prstGeom prst="rect">
            <a:avLst/>
          </a:prstGeom>
          <a:solidFill>
            <a:srgbClr val="4A7BA6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6220" y="1428750"/>
            <a:ext cx="2714579" cy="1333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76220" y="2952689"/>
            <a:ext cx="2714579" cy="3238439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出货量连续 8 年国产品牌第一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综合毛利率 31.81%（+4.17pct）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现金及等价物净增 9.37 亿元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A+H 双资本平台落地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381268" y="1428750"/>
            <a:ext cx="2714579" cy="1333470"/>
          </a:xfrm>
          <a:prstGeom prst="rect">
            <a:avLst/>
          </a:prstGeom>
          <a:solidFill>
            <a:srgbClr val="F26B21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81268" y="1428750"/>
            <a:ext cx="2714579" cy="1333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381268" y="2952689"/>
            <a:ext cx="2714579" cy="3238439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营收增速仅 +1.14% 持平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扣非净利 0.70 亿元绝对额偏低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核心部件收入 -3.78%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境内收入 -8.82%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86317" y="1428750"/>
            <a:ext cx="2714579" cy="1333470"/>
          </a:xfrm>
          <a:prstGeom prst="rect">
            <a:avLst/>
          </a:prstGeom>
          <a:solidFill>
            <a:srgbClr val="8FA3D9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86317" y="1428750"/>
            <a:ext cx="2714579" cy="1333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6317" y="2952689"/>
            <a:ext cx="2714579" cy="3238439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海外收入 +25.06% 持续放量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具身智能工业场景加速落地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后服务市场替代周期到来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欧洲头部客户供应商名录突破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9191366" y="1428750"/>
            <a:ext cx="2714579" cy="1333470"/>
          </a:xfrm>
          <a:prstGeom prst="rect">
            <a:avLst/>
          </a:prstGeom>
          <a:solidFill>
            <a:srgbClr val="0C1B2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91366" y="1428750"/>
            <a:ext cx="2714579" cy="1333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91366" y="2952689"/>
            <a:ext cx="2714579" cy="3238439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下游汽车/新能源需求波动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汇率与地缘政治不确定性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非经常损益占利润总额 50.7%</a:t>
            </a:r>
            <a:endParaRPr lang="en-US" sz="93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行业价格竞争加剧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版式：SWOT 字母列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15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发展路径：四步走到全球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828629" y="2438339"/>
            <a:ext cx="28529" cy="419070"/>
          </a:xfrm>
          <a:prstGeom prst="rect">
            <a:avLst/>
          </a:prstGeom>
          <a:solidFill>
            <a:srgbClr val="4A7BA6">
              <a:alpha val="5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8629" y="3390778"/>
            <a:ext cx="28529" cy="419070"/>
          </a:xfrm>
          <a:prstGeom prst="rect">
            <a:avLst/>
          </a:prstGeom>
          <a:solidFill>
            <a:srgbClr val="F26B21">
              <a:alpha val="5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8629" y="4343309"/>
            <a:ext cx="28529" cy="419070"/>
          </a:xfrm>
          <a:prstGeom prst="rect">
            <a:avLst/>
          </a:prstGeom>
          <a:solidFill>
            <a:srgbClr val="8FA3D9">
              <a:alpha val="5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904970"/>
            <a:ext cx="533370" cy="533370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1904970"/>
            <a:ext cx="533370" cy="533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1295339" y="1904970"/>
            <a:ext cx="10096256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国产替代深耕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1295339" y="2209739"/>
            <a:ext cx="10096256" cy="3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连续八年国产品牌出货量第一，筑基本土市场，完成原始积累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" y="2857409"/>
            <a:ext cx="533370" cy="533370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" y="2857409"/>
            <a:ext cx="533370" cy="533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1295339" y="2857409"/>
            <a:ext cx="10096256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全品牌登顶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1295339" y="3162178"/>
            <a:ext cx="10096256" cy="3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 连续六个季度位列中国工业机器人全品牌出货量榜首（MIR）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" y="3809939"/>
            <a:ext cx="533370" cy="533370"/>
          </a:xfrm>
          <a:prstGeom prst="ellipse">
            <a:avLst/>
          </a:prstGeom>
          <a:solidFill>
            <a:srgbClr val="8FA3D9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3809939"/>
            <a:ext cx="533370" cy="533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1295339" y="3809939"/>
            <a:ext cx="10096256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A+H 双资本平台</a:t>
            </a:r>
            <a:endParaRPr lang="en-US" sz="1470" dirty="0"/>
          </a:p>
        </p:txBody>
      </p:sp>
      <p:sp>
        <p:nvSpPr>
          <p:cNvPr id="20" name="Text 18"/>
          <p:cNvSpPr/>
          <p:nvPr/>
        </p:nvSpPr>
        <p:spPr>
          <a:xfrm>
            <a:off x="1295339" y="4114709"/>
            <a:ext cx="10096256" cy="3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股发行落地，筹资现金流净额 +254.62%，现金净增 9.37 亿元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" y="4762378"/>
            <a:ext cx="533370" cy="533370"/>
          </a:xfrm>
          <a:prstGeom prst="ellipse">
            <a:avLst/>
          </a:prstGeom>
          <a:solidFill>
            <a:srgbClr val="0C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4762378"/>
            <a:ext cx="533370" cy="533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70" dirty="0"/>
          </a:p>
        </p:txBody>
      </p:sp>
      <p:sp>
        <p:nvSpPr>
          <p:cNvPr id="23" name="Text 21"/>
          <p:cNvSpPr/>
          <p:nvPr/>
        </p:nvSpPr>
        <p:spPr>
          <a:xfrm>
            <a:off x="1295339" y="4762378"/>
            <a:ext cx="10096256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全球化运营</a:t>
            </a:r>
            <a:endParaRPr lang="en-US" sz="1470" dirty="0"/>
          </a:p>
        </p:txBody>
      </p:sp>
      <p:sp>
        <p:nvSpPr>
          <p:cNvPr id="24" name="Text 22"/>
          <p:cNvSpPr/>
          <p:nvPr/>
        </p:nvSpPr>
        <p:spPr>
          <a:xfrm>
            <a:off x="1295339" y="5067148"/>
            <a:ext cx="10096256" cy="3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波兰仓储与制造基地投入运营，进入欧洲头部客户供应商名录，订单快速增长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版式：垂直流程（节点圆 + 连接条）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15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SCORECARD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平衡术：四组关系的取舍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476220" y="1333470"/>
            <a:ext cx="5524348" cy="2381189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700">
            <a:solidFill>
              <a:srgbClr val="4A7B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76220" y="1333470"/>
            <a:ext cx="5524348" cy="5715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8" name="Text 6"/>
          <p:cNvSpPr/>
          <p:nvPr/>
        </p:nvSpPr>
        <p:spPr>
          <a:xfrm>
            <a:off x="704820" y="1504920"/>
            <a:ext cx="40004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 × 质量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704820" y="1904970"/>
            <a:ext cx="504812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做法：营收持平下毛利率 +4.17pct，高质量发展优先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04820" y="2209739"/>
            <a:ext cx="5048128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主动压降低毛利订单，聚焦高端应用，把增长质量放在规模之前。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704820" y="2857409"/>
            <a:ext cx="504812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误区：为冲量接低毛利订单，重蹈规模陷阱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04820" y="3162178"/>
            <a:ext cx="5048128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增收不增利的规模扩张，在机器人行业价格战中最危险。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191128" y="1333470"/>
            <a:ext cx="5524348" cy="2381189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700">
            <a:solidFill>
              <a:srgbClr val="4A7B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91128" y="1333470"/>
            <a:ext cx="5524348" cy="5715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15" name="Text 13"/>
          <p:cNvSpPr/>
          <p:nvPr/>
        </p:nvSpPr>
        <p:spPr>
          <a:xfrm>
            <a:off x="7276887" y="1504920"/>
            <a:ext cx="40004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× 海外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7276887" y="1904970"/>
            <a:ext cx="420998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做法：境内主动压降，境外 +25.06% 对冲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276887" y="2209739"/>
            <a:ext cx="4209989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海外占比升至 36.33%，波兰基地投运让欧洲交付本地化。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7276887" y="2857409"/>
            <a:ext cx="420998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误区：两头平均用力，资源分散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276887" y="3162178"/>
            <a:ext cx="4209989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没有取舍的全球化，往往两头都做不深。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76220" y="4286159"/>
            <a:ext cx="5524348" cy="2190720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2700">
            <a:solidFill>
              <a:srgbClr val="4A7B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76220" y="4286159"/>
            <a:ext cx="5524348" cy="5715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22" name="Text 20"/>
          <p:cNvSpPr/>
          <p:nvPr/>
        </p:nvSpPr>
        <p:spPr>
          <a:xfrm>
            <a:off x="704820" y="4457609"/>
            <a:ext cx="40004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 × 产出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704820" y="4857659"/>
            <a:ext cx="504812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做法：研发投入 2.50 亿元，占收入 9.70%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04820" y="5162428"/>
            <a:ext cx="5048128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保持技术代差，从「跟随技术」到「定义标准」。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04820" y="5714817"/>
            <a:ext cx="504812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误区：砍研发粉饰短期利润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704820" y="6019678"/>
            <a:ext cx="5048128" cy="3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以牺牲长期竞争力换取当期报表，得不偿失。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191128" y="4286159"/>
            <a:ext cx="5524348" cy="2190720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2700">
            <a:solidFill>
              <a:srgbClr val="4A7BA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191128" y="4286159"/>
            <a:ext cx="5524348" cy="57150"/>
          </a:xfrm>
          <a:prstGeom prst="rect">
            <a:avLst/>
          </a:prstGeom>
          <a:solidFill>
            <a:srgbClr val="4A7BA6"/>
          </a:solidFill>
          <a:ln/>
        </p:spPr>
      </p:sp>
      <p:sp>
        <p:nvSpPr>
          <p:cNvPr id="29" name="Text 27"/>
          <p:cNvSpPr/>
          <p:nvPr/>
        </p:nvSpPr>
        <p:spPr>
          <a:xfrm>
            <a:off x="7276887" y="4457609"/>
            <a:ext cx="40004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 × 长期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7276887" y="4857659"/>
            <a:ext cx="420998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做法：扣非扭亏 0.70 亿元，支撑长期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7276887" y="5162428"/>
            <a:ext cx="4209989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公允价值收益 1.0 亿改善当期，主业改善支撑长期。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7276887" y="5714817"/>
            <a:ext cx="420998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误区：把非经常损益当常态盈利能力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7276887" y="6019678"/>
            <a:ext cx="4209989" cy="3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读报表要区分一次性收益与经营性利润。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895698" y="2705070"/>
            <a:ext cx="2400209" cy="2400209"/>
          </a:xfrm>
          <a:custGeom>
            <a:avLst/>
            <a:gdLst/>
            <a:ahLst/>
            <a:cxnLst/>
            <a:rect l="l" t="t" r="r" b="b"/>
            <a:pathLst>
              <a:path w="2400209" h="2400209">
                <a:moveTo>
                  <a:pt x="0" y="1200150"/>
                </a:moveTo>
                <a:arcTo hR="1200150" wR="1200150" stAng="10800000" swAng="5400000"/>
                <a:lnTo>
                  <a:pt x="1200150" y="723839"/>
                </a:lnTo>
                <a:arcTo hR="476220" wR="476220" stAng="16200000" swAng="-5400000"/>
                <a:close/>
              </a:path>
            </a:pathLst>
          </a:custGeom>
          <a:solidFill>
            <a:srgbClr val="4A7BA6"/>
          </a:solidFill>
          <a:ln/>
        </p:spPr>
      </p:sp>
      <p:sp>
        <p:nvSpPr>
          <p:cNvPr id="35" name="Shape 33"/>
          <p:cNvSpPr/>
          <p:nvPr/>
        </p:nvSpPr>
        <p:spPr>
          <a:xfrm>
            <a:off x="4895698" y="2705070"/>
            <a:ext cx="2400209" cy="2400209"/>
          </a:xfrm>
          <a:custGeom>
            <a:avLst/>
            <a:gdLst/>
            <a:ahLst/>
            <a:cxnLst/>
            <a:rect l="l" t="t" r="r" b="b"/>
            <a:pathLst>
              <a:path w="2400209" h="2400209">
                <a:moveTo>
                  <a:pt x="1200150" y="0"/>
                </a:moveTo>
                <a:arcTo hR="1200150" wR="1200150" stAng="16200000" swAng="5400000"/>
                <a:lnTo>
                  <a:pt x="1676370" y="1200150"/>
                </a:lnTo>
                <a:arcTo hR="476220" wR="476220" stAng="21600000" swAng="-5400000"/>
                <a:close/>
              </a:path>
            </a:pathLst>
          </a:custGeom>
          <a:solidFill>
            <a:srgbClr val="8FA3D9"/>
          </a:solidFill>
          <a:ln/>
        </p:spPr>
      </p:sp>
      <p:sp>
        <p:nvSpPr>
          <p:cNvPr id="36" name="Shape 34"/>
          <p:cNvSpPr/>
          <p:nvPr/>
        </p:nvSpPr>
        <p:spPr>
          <a:xfrm>
            <a:off x="4895698" y="2705070"/>
            <a:ext cx="2400209" cy="2400209"/>
          </a:xfrm>
          <a:custGeom>
            <a:avLst/>
            <a:gdLst/>
            <a:ahLst/>
            <a:cxnLst/>
            <a:rect l="l" t="t" r="r" b="b"/>
            <a:pathLst>
              <a:path w="2400209" h="2400209">
                <a:moveTo>
                  <a:pt x="1200150" y="2400209"/>
                </a:moveTo>
                <a:arcTo hR="1200150" wR="1200150" stAng="5400000" swAng="5400000"/>
                <a:lnTo>
                  <a:pt x="723839" y="1200150"/>
                </a:lnTo>
                <a:arcTo hR="476220" wR="476220" stAng="10800000" swAng="-5400000"/>
                <a:close/>
              </a:path>
            </a:pathLst>
          </a:custGeom>
          <a:solidFill>
            <a:srgbClr val="4A7BA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5698" y="2705070"/>
            <a:ext cx="2400209" cy="2400209"/>
          </a:xfrm>
          <a:custGeom>
            <a:avLst/>
            <a:gdLst/>
            <a:ahLst/>
            <a:cxnLst/>
            <a:rect l="l" t="t" r="r" b="b"/>
            <a:pathLst>
              <a:path w="2400209" h="2400209">
                <a:moveTo>
                  <a:pt x="2400209" y="1200150"/>
                </a:moveTo>
                <a:arcTo hR="1200150" wR="1200150" stAng="0" swAng="5400000"/>
                <a:lnTo>
                  <a:pt x="1200150" y="1676370"/>
                </a:lnTo>
                <a:arcTo hR="476220" wR="476220" stAng="5400000" swAng="-5400000"/>
                <a:close/>
              </a:path>
            </a:pathLst>
          </a:custGeom>
          <a:solidFill>
            <a:srgbClr val="8FA3D9"/>
          </a:solidFill>
          <a:ln/>
        </p:spPr>
      </p:sp>
      <p:sp>
        <p:nvSpPr>
          <p:cNvPr id="38" name="Shape 36"/>
          <p:cNvSpPr/>
          <p:nvPr/>
        </p:nvSpPr>
        <p:spPr>
          <a:xfrm>
            <a:off x="5429159" y="3238439"/>
            <a:ext cx="1333470" cy="13334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190957" y="3000329"/>
            <a:ext cx="1809689" cy="1809689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619628" y="3428909"/>
            <a:ext cx="952439" cy="952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2930" dirty="0"/>
          </a:p>
        </p:txBody>
      </p:sp>
      <p:sp>
        <p:nvSpPr>
          <p:cNvPr id="41" name="Shape 39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2" name="Text 40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版式：四象限 + 中心环（arc-segment 四分）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15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核心指标仪表盘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571500" y="1904970"/>
            <a:ext cx="2581168" cy="2857409"/>
          </a:xfrm>
          <a:prstGeom prst="roundRect">
            <a:avLst>
              <a:gd name="adj" fmla="val 5905"/>
            </a:avLst>
          </a:prstGeom>
          <a:solidFill>
            <a:srgbClr val="0C1B2E">
              <a:alpha val="8000"/>
            </a:srgbClr>
          </a:solidFill>
          <a:ln w="25400">
            <a:solidFill>
              <a:srgbClr val="0C1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2381189"/>
            <a:ext cx="258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b="1" dirty="0">
                <a:solidFill>
                  <a:srgbClr val="0C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25.78 亿</a:t>
            </a:r>
            <a:endParaRPr lang="en-US" sz="2930" dirty="0"/>
          </a:p>
        </p:txBody>
      </p:sp>
      <p:sp>
        <p:nvSpPr>
          <p:cNvPr id="8" name="Text 6"/>
          <p:cNvSpPr/>
          <p:nvPr/>
        </p:nvSpPr>
        <p:spPr>
          <a:xfrm>
            <a:off x="571500" y="3238439"/>
            <a:ext cx="258116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571500" y="3619378"/>
            <a:ext cx="258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+1.14%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381268" y="1904970"/>
            <a:ext cx="2581168" cy="2857409"/>
          </a:xfrm>
          <a:prstGeom prst="roundRect">
            <a:avLst>
              <a:gd name="adj" fmla="val 5905"/>
            </a:avLst>
          </a:prstGeom>
          <a:solidFill>
            <a:srgbClr val="F26B21">
              <a:alpha val="8000"/>
            </a:srgbClr>
          </a:solidFill>
          <a:ln w="25400">
            <a:solidFill>
              <a:srgbClr val="F26B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1268" y="2381189"/>
            <a:ext cx="258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1.61 亿</a:t>
            </a:r>
            <a:endParaRPr lang="en-US" sz="2930" dirty="0"/>
          </a:p>
        </p:txBody>
      </p:sp>
      <p:sp>
        <p:nvSpPr>
          <p:cNvPr id="12" name="Text 10"/>
          <p:cNvSpPr/>
          <p:nvPr/>
        </p:nvSpPr>
        <p:spPr>
          <a:xfrm>
            <a:off x="3381268" y="3238439"/>
            <a:ext cx="258116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归母净利润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3381268" y="3619378"/>
            <a:ext cx="258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+2,314.23%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191128" y="1904970"/>
            <a:ext cx="2581168" cy="2857409"/>
          </a:xfrm>
          <a:prstGeom prst="roundRect">
            <a:avLst>
              <a:gd name="adj" fmla="val 5905"/>
            </a:avLst>
          </a:prstGeom>
          <a:solidFill>
            <a:srgbClr val="4A7BA6">
              <a:alpha val="8000"/>
            </a:srgbClr>
          </a:solidFill>
          <a:ln w="25400">
            <a:solidFill>
              <a:srgbClr val="4A7B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1128" y="2381189"/>
            <a:ext cx="258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b="1" dirty="0">
                <a:solidFill>
                  <a:srgbClr val="4A7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31.81%</a:t>
            </a:r>
            <a:endParaRPr lang="en-US" sz="2930" dirty="0"/>
          </a:p>
        </p:txBody>
      </p:sp>
      <p:sp>
        <p:nvSpPr>
          <p:cNvPr id="16" name="Text 14"/>
          <p:cNvSpPr/>
          <p:nvPr/>
        </p:nvSpPr>
        <p:spPr>
          <a:xfrm>
            <a:off x="6191128" y="3238439"/>
            <a:ext cx="258116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综合毛利率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191128" y="3619378"/>
            <a:ext cx="258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+4.17pct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000896" y="1904970"/>
            <a:ext cx="2581168" cy="2857409"/>
          </a:xfrm>
          <a:prstGeom prst="roundRect">
            <a:avLst>
              <a:gd name="adj" fmla="val 5905"/>
            </a:avLst>
          </a:prstGeom>
          <a:solidFill>
            <a:srgbClr val="8FA3D9">
              <a:alpha val="8000"/>
            </a:srgbClr>
          </a:solidFill>
          <a:ln w="25400">
            <a:solidFill>
              <a:srgbClr val="8FA3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0896" y="2381189"/>
            <a:ext cx="2581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0" b="1" dirty="0">
                <a:solidFill>
                  <a:srgbClr val="8FA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9.36 亿</a:t>
            </a:r>
            <a:endParaRPr lang="en-US" sz="2930" dirty="0"/>
          </a:p>
        </p:txBody>
      </p:sp>
      <p:sp>
        <p:nvSpPr>
          <p:cNvPr id="20" name="Text 18"/>
          <p:cNvSpPr/>
          <p:nvPr/>
        </p:nvSpPr>
        <p:spPr>
          <a:xfrm>
            <a:off x="9000896" y="3238439"/>
            <a:ext cx="2581168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海外业务收入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9000896" y="3619378"/>
            <a:ext cx="258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+25.06%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71500" y="5333878"/>
            <a:ext cx="11048695" cy="666689"/>
          </a:xfrm>
          <a:prstGeom prst="roundRect">
            <a:avLst>
              <a:gd name="adj" fmla="val 19997"/>
            </a:avLst>
          </a:prstGeom>
          <a:solidFill>
            <a:srgbClr val="0C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" y="5333878"/>
            <a:ext cx="11048695" cy="666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扣非净利润 0.70 亿元扭亏为盈 · 经营现金流 +0.45 亿元转正 · 现金及等价物净增 9.37 亿元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版式：数据仪表盘（大数字卡行）</a:t>
            </a:r>
            <a:endParaRPr lang="en-US" sz="670" dirty="0"/>
          </a:p>
        </p:txBody>
      </p:sp>
      <p:sp>
        <p:nvSpPr>
          <p:cNvPr id="26" name="Text 24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15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REVENUE STRUCTURE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收入结构：海外 +25% 对冲境内压降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571500" y="1333470"/>
            <a:ext cx="5905378" cy="4190878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61970" y="1523939"/>
          <a:ext cx="5524348" cy="380993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857817" y="1333470"/>
            <a:ext cx="4762378" cy="2476470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graphicFrame>
        <p:nvGraphicFramePr>
          <p:cNvPr id="9" name="Chart 1" descr=""/>
          <p:cNvGraphicFramePr/>
          <p:nvPr/>
        </p:nvGraphicFramePr>
        <p:xfrm>
          <a:off x="7048287" y="1428750"/>
          <a:ext cx="4381348" cy="22859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857817" y="4000409"/>
            <a:ext cx="4762378" cy="1523939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7817" y="4000409"/>
            <a:ext cx="4762378" cy="38130"/>
          </a:xfrm>
          <a:prstGeom prst="roundRect">
            <a:avLst>
              <a:gd name="adj" fmla="val 49881"/>
            </a:avLst>
          </a:prstGeom>
          <a:solidFill>
            <a:srgbClr val="F26B21"/>
          </a:solidFill>
          <a:ln/>
        </p:spPr>
      </p:sp>
      <p:sp>
        <p:nvSpPr>
          <p:cNvPr id="12" name="Text 8"/>
          <p:cNvSpPr/>
          <p:nvPr/>
        </p:nvSpPr>
        <p:spPr>
          <a:xfrm>
            <a:off x="7124548" y="4229009"/>
            <a:ext cx="422900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 9.36 亿元 · +25.06%</a:t>
            </a:r>
            <a:endParaRPr lang="en-US" sz="1130" dirty="0"/>
          </a:p>
        </p:txBody>
      </p:sp>
      <p:sp>
        <p:nvSpPr>
          <p:cNvPr id="13" name="Text 9"/>
          <p:cNvSpPr/>
          <p:nvPr/>
        </p:nvSpPr>
        <p:spPr>
          <a:xfrm>
            <a:off x="7124548" y="4590928"/>
            <a:ext cx="4229009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 36.3%（+7.0pct）：欧洲头部客户放量、波兰基地投运；境内 16.41 亿元（-8.82%）为主动压降低毛利业务。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571500" y="5810098"/>
            <a:ext cx="11048695" cy="476220"/>
          </a:xfrm>
          <a:prstGeom prst="roundRect">
            <a:avLst>
              <a:gd name="adj" fmla="val 24002"/>
            </a:avLst>
          </a:prstGeom>
          <a:solidFill>
            <a:srgbClr val="0C1B2E"/>
          </a:solidFill>
          <a:ln/>
        </p:spPr>
      </p:sp>
      <p:sp>
        <p:nvSpPr>
          <p:cNvPr id="15" name="Text 11"/>
          <p:cNvSpPr/>
          <p:nvPr/>
        </p:nvSpPr>
        <p:spPr>
          <a:xfrm>
            <a:off x="571500" y="5810098"/>
            <a:ext cx="11048695" cy="476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「Local for Global」全球化战略持续兑现，海外成为第二增长曲线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" name="Text 13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版式：图表页（chart 柱图 + 环图，导出为真实可编辑图表）</a:t>
            </a:r>
            <a:endParaRPr lang="en-US" sz="670" dirty="0"/>
          </a:p>
        </p:txBody>
      </p:sp>
      <p:sp>
        <p:nvSpPr>
          <p:cNvPr id="18" name="Text 14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PROFITABILITY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盈利质量：毛利率全线提升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571500" y="1333470"/>
            <a:ext cx="5905378" cy="4190878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61970" y="1523939"/>
          <a:ext cx="5524348" cy="380993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857817" y="1333470"/>
            <a:ext cx="4762378" cy="4190878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7817" y="1333470"/>
            <a:ext cx="4762378" cy="38130"/>
          </a:xfrm>
          <a:prstGeom prst="roundRect">
            <a:avLst>
              <a:gd name="adj" fmla="val 49881"/>
            </a:avLst>
          </a:prstGeom>
          <a:solidFill>
            <a:srgbClr val="F26B21"/>
          </a:solidFill>
          <a:ln/>
        </p:spPr>
      </p:sp>
      <p:sp>
        <p:nvSpPr>
          <p:cNvPr id="10" name="Text 7"/>
          <p:cNvSpPr/>
          <p:nvPr/>
        </p:nvSpPr>
        <p:spPr>
          <a:xfrm>
            <a:off x="7124548" y="1543050"/>
            <a:ext cx="4190878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改善动因拆解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24548" y="1943009"/>
            <a:ext cx="4229009" cy="9510"/>
          </a:xfrm>
          <a:prstGeom prst="rect">
            <a:avLst/>
          </a:prstGeom>
          <a:solidFill>
            <a:srgbClr val="E8E4DC"/>
          </a:solidFill>
          <a:ln/>
        </p:spPr>
      </p:sp>
      <p:sp>
        <p:nvSpPr>
          <p:cNvPr id="12" name="Text 9"/>
          <p:cNvSpPr/>
          <p:nvPr/>
        </p:nvSpPr>
        <p:spPr>
          <a:xfrm>
            <a:off x="7124548" y="2114459"/>
            <a:ext cx="1047720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结构优化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8267456" y="2114459"/>
            <a:ext cx="30860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压降低毛利订单，聚焦高端应用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7124548" y="2495489"/>
            <a:ext cx="1047720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8267456" y="2495489"/>
            <a:ext cx="30860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供应链优化 · 原材料国产替代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7124548" y="2876520"/>
            <a:ext cx="1047720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费用管控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8267456" y="2876520"/>
            <a:ext cx="30860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销售费用 -6.5% · 财务费用 -9.9%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7124548" y="3257459"/>
            <a:ext cx="1047720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研发投入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8267456" y="3257459"/>
            <a:ext cx="3086009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2.50 亿元 · 占收入 9.70%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7124548" y="3771809"/>
            <a:ext cx="4229009" cy="609539"/>
          </a:xfrm>
          <a:prstGeom prst="roundRect">
            <a:avLst>
              <a:gd name="adj" fmla="val 18752"/>
            </a:avLst>
          </a:prstGeom>
          <a:solidFill>
            <a:srgbClr val="0C1B2E"/>
          </a:solidFill>
          <a:ln/>
        </p:spPr>
      </p:sp>
      <p:sp>
        <p:nvSpPr>
          <p:cNvPr id="21" name="Text 18"/>
          <p:cNvSpPr/>
          <p:nvPr/>
        </p:nvSpPr>
        <p:spPr>
          <a:xfrm>
            <a:off x="7124548" y="3771809"/>
            <a:ext cx="4229009" cy="609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注意：归母净利中约 1.0 亿元来自股权置换公允价值变动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7124548" y="4609948"/>
            <a:ext cx="4229009" cy="47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减值计提同比增加（应收账款、存货），体现谨慎性原则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1500" y="5810098"/>
            <a:ext cx="11048695" cy="476220"/>
          </a:xfrm>
          <a:prstGeom prst="roundRect">
            <a:avLst>
              <a:gd name="adj" fmla="val 24002"/>
            </a:avLst>
          </a:prstGeom>
          <a:solidFill>
            <a:srgbClr val="0C1B2E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5810098"/>
            <a:ext cx="11048695" cy="476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扣非净利润 7,017 万元（+498.64%）：主业盈利改善为真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版式：图表页（chart 柱图 + 动因拆解栏）</a:t>
            </a:r>
            <a:endParaRPr lang="en-US" sz="670" dirty="0"/>
          </a:p>
        </p:txBody>
      </p:sp>
      <p:sp>
        <p:nvSpPr>
          <p:cNvPr id="27" name="Text 24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 MAP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战略地图：一根主轴，四根支柱</a:t>
            </a:r>
            <a:endParaRPr lang="en-US" sz="1870" dirty="0"/>
          </a:p>
        </p:txBody>
      </p:sp>
      <p:sp>
        <p:nvSpPr>
          <p:cNvPr id="6" name="Shape 4"/>
          <p:cNvSpPr/>
          <p:nvPr/>
        </p:nvSpPr>
        <p:spPr>
          <a:xfrm>
            <a:off x="1904970" y="2381189"/>
            <a:ext cx="4190878" cy="1047720"/>
          </a:xfrm>
          <a:custGeom>
            <a:avLst/>
            <a:gdLst/>
            <a:ahLst/>
            <a:cxnLst/>
            <a:rect l="l" t="t" r="r" b="b"/>
            <a:pathLst>
              <a:path w="4190878" h="1047720">
                <a:moveTo>
                  <a:pt x="4190878" y="0"/>
                </a:moveTo>
                <a:cubicBezTo>
                  <a:pt x="4190878" y="523860"/>
                  <a:pt x="0" y="523860"/>
                  <a:pt x="0" y="104772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667098" y="2381189"/>
            <a:ext cx="1428750" cy="1047720"/>
          </a:xfrm>
          <a:custGeom>
            <a:avLst/>
            <a:gdLst/>
            <a:ahLst/>
            <a:cxnLst/>
            <a:rect l="l" t="t" r="r" b="b"/>
            <a:pathLst>
              <a:path w="1428750" h="1047720">
                <a:moveTo>
                  <a:pt x="1428750" y="0"/>
                </a:moveTo>
                <a:cubicBezTo>
                  <a:pt x="1428750" y="523860"/>
                  <a:pt x="0" y="523860"/>
                  <a:pt x="0" y="104772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95848" y="2381189"/>
            <a:ext cx="1333470" cy="1047720"/>
          </a:xfrm>
          <a:custGeom>
            <a:avLst/>
            <a:gdLst/>
            <a:ahLst/>
            <a:cxnLst/>
            <a:rect l="l" t="t" r="r" b="b"/>
            <a:pathLst>
              <a:path w="1333470" h="1047720">
                <a:moveTo>
                  <a:pt x="0" y="0"/>
                </a:moveTo>
                <a:cubicBezTo>
                  <a:pt x="0" y="523860"/>
                  <a:pt x="1333470" y="523860"/>
                  <a:pt x="1333470" y="104772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095848" y="2381189"/>
            <a:ext cx="4095689" cy="1047720"/>
          </a:xfrm>
          <a:custGeom>
            <a:avLst/>
            <a:gdLst/>
            <a:ahLst/>
            <a:cxnLst/>
            <a:rect l="l" t="t" r="r" b="b"/>
            <a:pathLst>
              <a:path w="4095689" h="1047720">
                <a:moveTo>
                  <a:pt x="0" y="0"/>
                </a:moveTo>
                <a:cubicBezTo>
                  <a:pt x="0" y="523860"/>
                  <a:pt x="4095689" y="523860"/>
                  <a:pt x="4095689" y="1047720"/>
                </a:cubicBezTo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5B0C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43409" y="1428750"/>
            <a:ext cx="1904970" cy="952439"/>
          </a:xfrm>
          <a:prstGeom prst="roundRect">
            <a:avLst>
              <a:gd name="adj" fmla="val 16004"/>
            </a:avLst>
          </a:prstGeom>
          <a:solidFill>
            <a:srgbClr val="0C1B2E"/>
          </a:solidFill>
          <a:ln/>
        </p:spPr>
      </p:sp>
      <p:sp>
        <p:nvSpPr>
          <p:cNvPr id="11" name="Text 9"/>
          <p:cNvSpPr/>
          <p:nvPr/>
        </p:nvSpPr>
        <p:spPr>
          <a:xfrm>
            <a:off x="5143409" y="1428750"/>
            <a:ext cx="1904970" cy="495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🧭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5143409" y="1923989"/>
            <a:ext cx="1904970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战略主轴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71500" y="3428909"/>
            <a:ext cx="2666939" cy="21907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" y="3428909"/>
            <a:ext cx="2666939" cy="38130"/>
          </a:xfrm>
          <a:prstGeom prst="roundRect">
            <a:avLst>
              <a:gd name="adj" fmla="val 49881"/>
            </a:avLst>
          </a:prstGeom>
          <a:solidFill>
            <a:srgbClr val="4A7BA6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3657509"/>
            <a:ext cx="266693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</a:t>
            </a:r>
            <a:endParaRPr lang="en-US" sz="1730" dirty="0"/>
          </a:p>
        </p:txBody>
      </p:sp>
      <p:sp>
        <p:nvSpPr>
          <p:cNvPr id="16" name="Text 14"/>
          <p:cNvSpPr/>
          <p:nvPr/>
        </p:nvSpPr>
        <p:spPr>
          <a:xfrm>
            <a:off x="571500" y="4114709"/>
            <a:ext cx="266693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高质量增长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761970" y="4476628"/>
            <a:ext cx="2285909" cy="952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 31.81%（+4.17pct）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扣非净利 0.70 亿扭亏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经营现金流 +0.45 亿转正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333628" y="3428909"/>
            <a:ext cx="2666939" cy="21907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3628" y="3428909"/>
            <a:ext cx="2666939" cy="38130"/>
          </a:xfrm>
          <a:prstGeom prst="roundRect">
            <a:avLst>
              <a:gd name="adj" fmla="val 49881"/>
            </a:avLst>
          </a:prstGeom>
          <a:solidFill>
            <a:srgbClr val="F26B21"/>
          </a:solidFill>
          <a:ln/>
        </p:spPr>
      </p:sp>
      <p:sp>
        <p:nvSpPr>
          <p:cNvPr id="20" name="Text 18"/>
          <p:cNvSpPr/>
          <p:nvPr/>
        </p:nvSpPr>
        <p:spPr>
          <a:xfrm>
            <a:off x="3333628" y="3657509"/>
            <a:ext cx="266693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1730" dirty="0"/>
          </a:p>
        </p:txBody>
      </p:sp>
      <p:sp>
        <p:nvSpPr>
          <p:cNvPr id="21" name="Text 19"/>
          <p:cNvSpPr/>
          <p:nvPr/>
        </p:nvSpPr>
        <p:spPr>
          <a:xfrm>
            <a:off x="3333628" y="4114709"/>
            <a:ext cx="266693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全球化放量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524189" y="4476628"/>
            <a:ext cx="2285909" cy="952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 +25.06%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收入占比 36.33%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波兰基地投入运营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095848" y="3428909"/>
            <a:ext cx="2666939" cy="21907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5848" y="3428909"/>
            <a:ext cx="2666939" cy="38130"/>
          </a:xfrm>
          <a:prstGeom prst="roundRect">
            <a:avLst>
              <a:gd name="adj" fmla="val 49881"/>
            </a:avLst>
          </a:prstGeom>
          <a:solidFill>
            <a:srgbClr val="8FA3D9"/>
          </a:solidFill>
          <a:ln/>
        </p:spPr>
      </p:sp>
      <p:sp>
        <p:nvSpPr>
          <p:cNvPr id="25" name="Text 23"/>
          <p:cNvSpPr/>
          <p:nvPr/>
        </p:nvSpPr>
        <p:spPr>
          <a:xfrm>
            <a:off x="6095848" y="3657509"/>
            <a:ext cx="266693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</a:t>
            </a:r>
            <a:endParaRPr lang="en-US" sz="1730" dirty="0"/>
          </a:p>
        </p:txBody>
      </p:sp>
      <p:sp>
        <p:nvSpPr>
          <p:cNvPr id="26" name="Text 24"/>
          <p:cNvSpPr/>
          <p:nvPr/>
        </p:nvSpPr>
        <p:spPr>
          <a:xfrm>
            <a:off x="6095848" y="4114709"/>
            <a:ext cx="266693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研发驱动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286317" y="4476628"/>
            <a:ext cx="2285909" cy="952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研发投入 2.50 亿元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占收入 9.70%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具身智能场景加速落地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858067" y="3428909"/>
            <a:ext cx="2666939" cy="21907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8067" y="3428909"/>
            <a:ext cx="2666939" cy="38130"/>
          </a:xfrm>
          <a:prstGeom prst="roundRect">
            <a:avLst>
              <a:gd name="adj" fmla="val 49881"/>
            </a:avLst>
          </a:prstGeom>
          <a:solidFill>
            <a:srgbClr val="0C1B2E"/>
          </a:solidFill>
          <a:ln/>
        </p:spPr>
      </p:sp>
      <p:sp>
        <p:nvSpPr>
          <p:cNvPr id="30" name="Text 28"/>
          <p:cNvSpPr/>
          <p:nvPr/>
        </p:nvSpPr>
        <p:spPr>
          <a:xfrm>
            <a:off x="8858067" y="3657509"/>
            <a:ext cx="266693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🏛️</a:t>
            </a:r>
            <a:endParaRPr lang="en-US" sz="1730" dirty="0"/>
          </a:p>
        </p:txBody>
      </p:sp>
      <p:sp>
        <p:nvSpPr>
          <p:cNvPr id="31" name="Text 29"/>
          <p:cNvSpPr/>
          <p:nvPr/>
        </p:nvSpPr>
        <p:spPr>
          <a:xfrm>
            <a:off x="8858067" y="4114709"/>
            <a:ext cx="2666939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资本平台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9048537" y="4476628"/>
            <a:ext cx="2285909" cy="952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A+H 双资本平台落地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筹资现金流 +254.62%</a:t>
            </a:r>
            <a:endParaRPr lang="en-US" sz="87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现金净增 9.37 亿元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版式：top-hub 脑图（connector-s 竖直 S 下落）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495330"/>
            <a:ext cx="57150" cy="40005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4" name="Text 2"/>
          <p:cNvSpPr/>
          <p:nvPr/>
        </p:nvSpPr>
        <p:spPr>
          <a:xfrm>
            <a:off x="761970" y="457200"/>
            <a:ext cx="38099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 ENGINES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761970" y="628650"/>
            <a:ext cx="7619787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17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增长引擎：三力环绕</a:t>
            </a:r>
            <a:endParaRPr lang="en-US" sz="187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9989" y="2209739"/>
            <a:ext cx="3771809" cy="37718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33878" y="3333628"/>
            <a:ext cx="1523939" cy="1523939"/>
          </a:xfrm>
          <a:prstGeom prst="ellipse">
            <a:avLst/>
          </a:prstGeom>
          <a:solidFill>
            <a:srgbClr val="0C1B2E"/>
          </a:solidFill>
          <a:ln/>
        </p:spPr>
      </p:sp>
      <p:sp>
        <p:nvSpPr>
          <p:cNvPr id="8" name="Text 5"/>
          <p:cNvSpPr/>
          <p:nvPr/>
        </p:nvSpPr>
        <p:spPr>
          <a:xfrm>
            <a:off x="5333878" y="3524189"/>
            <a:ext cx="1523939" cy="666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333878" y="4190878"/>
            <a:ext cx="1523939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增长引擎</a:t>
            </a:r>
            <a:endParaRPr lang="en-US" sz="1330" dirty="0"/>
          </a:p>
        </p:txBody>
      </p:sp>
      <p:sp>
        <p:nvSpPr>
          <p:cNvPr id="10" name="Shape 7"/>
          <p:cNvSpPr/>
          <p:nvPr/>
        </p:nvSpPr>
        <p:spPr>
          <a:xfrm>
            <a:off x="6581577" y="2009760"/>
            <a:ext cx="914400" cy="914400"/>
          </a:xfrm>
          <a:prstGeom prst="ellipse">
            <a:avLst/>
          </a:prstGeom>
          <a:solidFill>
            <a:srgbClr val="F26B21"/>
          </a:solidFill>
          <a:ln/>
        </p:spPr>
      </p:sp>
      <p:sp>
        <p:nvSpPr>
          <p:cNvPr id="11" name="Text 8"/>
          <p:cNvSpPr/>
          <p:nvPr/>
        </p:nvSpPr>
        <p:spPr>
          <a:xfrm>
            <a:off x="6581577" y="2009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81727" y="2238360"/>
            <a:ext cx="2857409" cy="419070"/>
          </a:xfrm>
          <a:prstGeom prst="roundRect">
            <a:avLst>
              <a:gd name="adj" fmla="val 50011"/>
            </a:avLst>
          </a:prstGeom>
          <a:solidFill>
            <a:srgbClr val="EBDFD8"/>
          </a:solidFill>
          <a:ln w="19050">
            <a:solidFill>
              <a:srgbClr val="F26B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81727" y="2238360"/>
            <a:ext cx="285740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海外放量 · +25.06%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7781727" y="2752618"/>
            <a:ext cx="3047878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 9.36 亿元，占比 36.33%，欧洲订单快速增长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6581577" y="5267218"/>
            <a:ext cx="914400" cy="914400"/>
          </a:xfrm>
          <a:prstGeom prst="ellipse">
            <a:avLst/>
          </a:prstGeom>
          <a:solidFill>
            <a:srgbClr val="4A7BA6"/>
          </a:solidFill>
          <a:ln/>
        </p:spPr>
      </p:sp>
      <p:sp>
        <p:nvSpPr>
          <p:cNvPr id="16" name="Text 13"/>
          <p:cNvSpPr/>
          <p:nvPr/>
        </p:nvSpPr>
        <p:spPr>
          <a:xfrm>
            <a:off x="6581577" y="526721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781727" y="5438668"/>
            <a:ext cx="2857409" cy="419070"/>
          </a:xfrm>
          <a:prstGeom prst="roundRect">
            <a:avLst>
              <a:gd name="adj" fmla="val 50011"/>
            </a:avLst>
          </a:prstGeom>
          <a:solidFill>
            <a:srgbClr val="D9DEE2"/>
          </a:solidFill>
          <a:ln w="19050">
            <a:solidFill>
              <a:srgbClr val="4A7B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81727" y="5438668"/>
            <a:ext cx="285740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4A7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后服务市场崛起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7781727" y="5895868"/>
            <a:ext cx="3047878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保有量增长叠加替代周期，「产品+服务」双轮驱动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3752789" y="3638489"/>
            <a:ext cx="914400" cy="914400"/>
          </a:xfrm>
          <a:prstGeom prst="ellipse">
            <a:avLst/>
          </a:prstGeom>
          <a:solidFill>
            <a:srgbClr val="8FA3D9"/>
          </a:solidFill>
          <a:ln/>
        </p:spPr>
      </p:sp>
      <p:sp>
        <p:nvSpPr>
          <p:cNvPr id="21" name="Text 18"/>
          <p:cNvSpPr/>
          <p:nvPr/>
        </p:nvSpPr>
        <p:spPr>
          <a:xfrm>
            <a:off x="3752789" y="3638489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09539" y="3886109"/>
            <a:ext cx="2857409" cy="419070"/>
          </a:xfrm>
          <a:prstGeom prst="roundRect">
            <a:avLst>
              <a:gd name="adj" fmla="val 50011"/>
            </a:avLst>
          </a:prstGeom>
          <a:solidFill>
            <a:srgbClr val="E9EBEF"/>
          </a:solidFill>
          <a:ln w="19050">
            <a:solidFill>
              <a:srgbClr val="8FA3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9539" y="3886109"/>
            <a:ext cx="2857409" cy="4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8FA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具身智能落地</a:t>
            </a:r>
            <a:endParaRPr lang="en-US" sz="1070" dirty="0"/>
          </a:p>
        </p:txBody>
      </p:sp>
      <p:sp>
        <p:nvSpPr>
          <p:cNvPr id="24" name="Text 21"/>
          <p:cNvSpPr/>
          <p:nvPr/>
        </p:nvSpPr>
        <p:spPr>
          <a:xfrm>
            <a:off x="609539" y="4400459"/>
            <a:ext cx="3047878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+ AI 深度融合，多场景具身智能解决方案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571500" y="6553048"/>
            <a:ext cx="11048695" cy="951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6629217"/>
            <a:ext cx="66673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版式：三环循环（中心圆 + 点状环 + 环绕项）</a:t>
            </a:r>
            <a:endParaRPr lang="en-US" sz="670" dirty="0"/>
          </a:p>
        </p:txBody>
      </p:sp>
      <p:sp>
        <p:nvSpPr>
          <p:cNvPr id="27" name="Text 24"/>
          <p:cNvSpPr/>
          <p:nvPr/>
        </p:nvSpPr>
        <p:spPr>
          <a:xfrm>
            <a:off x="10667756" y="6629217"/>
            <a:ext cx="952439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AA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0C1B2E"/>
          </a:solidFill>
          <a:ln/>
        </p:spPr>
      </p:sp>
      <p:sp>
        <p:nvSpPr>
          <p:cNvPr id="3" name="Shape 1"/>
          <p:cNvSpPr/>
          <p:nvPr/>
        </p:nvSpPr>
        <p:spPr>
          <a:xfrm>
            <a:off x="-857250" y="3714659"/>
            <a:ext cx="4000409" cy="4000409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428750"/>
            <a:ext cx="12191695" cy="20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7C8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791078" y="2095439"/>
            <a:ext cx="609539" cy="3813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6" name="Text 4"/>
          <p:cNvSpPr/>
          <p:nvPr/>
        </p:nvSpPr>
        <p:spPr>
          <a:xfrm>
            <a:off x="1333470" y="2476470"/>
            <a:ext cx="9524756" cy="104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让制造更智能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33470" y="3809939"/>
            <a:ext cx="9524756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2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以机器人 + AI 构建开放的产业生态链，加速具身智能工业场景部署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91078" y="4476628"/>
            <a:ext cx="609539" cy="3813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9" name="Text 7"/>
          <p:cNvSpPr/>
          <p:nvPr/>
        </p:nvSpPr>
        <p:spPr>
          <a:xfrm>
            <a:off x="1333470" y="4952848"/>
            <a:ext cx="9524756" cy="26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7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摘自公司 2026 年半年度报告「管理层讨论与分析」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0" y="6324448"/>
            <a:ext cx="12191695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版式：聚焦强调（大字号 + 双装饰线）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0C1B2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28750"/>
            <a:ext cx="12191695" cy="209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7C8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33470" y="2190720"/>
            <a:ext cx="9524756" cy="666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盈利拐点 × 结构优化 × 全球化加速</a:t>
            </a:r>
            <a:endParaRPr lang="en-US" sz="2670" dirty="0"/>
          </a:p>
        </p:txBody>
      </p:sp>
      <p:sp>
        <p:nvSpPr>
          <p:cNvPr id="5" name="Shape 3"/>
          <p:cNvSpPr/>
          <p:nvPr/>
        </p:nvSpPr>
        <p:spPr>
          <a:xfrm>
            <a:off x="5791078" y="3143159"/>
            <a:ext cx="609539" cy="38130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6" name="Text 4"/>
          <p:cNvSpPr/>
          <p:nvPr/>
        </p:nvSpPr>
        <p:spPr>
          <a:xfrm>
            <a:off x="1333470" y="3524189"/>
            <a:ext cx="9524756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2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八年出货量第一的基本面之上，中报交出了质量答卷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470" y="4476628"/>
            <a:ext cx="9524756" cy="381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26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1470" dirty="0"/>
          </a:p>
        </p:txBody>
      </p:sp>
      <p:sp>
        <p:nvSpPr>
          <p:cNvPr id="8" name="Text 6"/>
          <p:cNvSpPr/>
          <p:nvPr/>
        </p:nvSpPr>
        <p:spPr>
          <a:xfrm>
            <a:off x="1333470" y="6095848"/>
            <a:ext cx="95247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数据来源：公司 2026 年半年度报告（深交所披露）· 请以公告原文为准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埃斯顿 2026 中期业绩 · 布局版式参考</dc:title>
  <dc:subject>PptxGenJS Presentation</dc:subject>
  <dc:creator>PptxGenJS</dc:creator>
  <cp:lastModifiedBy>PptxGenJS</cp:lastModifiedBy>
  <cp:revision>1</cp:revision>
  <dcterms:created xsi:type="dcterms:W3CDTF">2026-09-02T10:22:54Z</dcterms:created>
  <dcterms:modified xsi:type="dcterms:W3CDTF">2026-09-02T10:22:54Z</dcterms:modified>
</cp:coreProperties>
</file>