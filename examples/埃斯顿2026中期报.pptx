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Chart Title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2026H1（亿元）</c:v>
                </c:pt>
              </c:strCache>
            </c:strRef>
          </c:tx>
          <c:spPr>
            <a:solidFill>
              <a:srgbClr val="F26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工业机器人及智能制造</c:v>
                  </c:pt>
                  <c:pt idx="1">
                    <c:v>自动化核心部件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21.38</c:v>
                </c:pt>
                <c:pt idx="1">
                  <c:v>4.39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2025H1（亿元）</c:v>
                </c:pt>
              </c:strCache>
            </c:strRef>
          </c:tx>
          <c:spPr>
            <a:solidFill>
              <a:srgbClr val="C9CF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工业机器人及智能制造</c:v>
                  </c:pt>
                  <c:pt idx="1">
                    <c:v>自动化核心部件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20.92</c:v>
                </c:pt>
                <c:pt idx="1">
                  <c:v>4.56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9CFDA"/>
              </a:solidFill>
              <a:effectLst/>
            </c:spPr>
          </c:dPt>
          <c:dPt>
            <c:idx val="1"/>
            <c:bubble3D val="0"/>
            <c:spPr>
              <a:solidFill>
                <a:srgbClr val="F26B2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境内 63.7%</c:v>
                </c:pt>
                <c:pt idx="1">
                  <c:v>境外 36.3%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63.67</c:v>
                </c:pt>
                <c:pt idx="1">
                  <c:v>36.33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Chart Title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2026H1（%）</c:v>
                </c:pt>
              </c:strCache>
            </c:strRef>
          </c:tx>
          <c:spPr>
            <a:solidFill>
              <a:srgbClr val="F26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综合毛利率</c:v>
                  </c:pt>
                  <c:pt idx="1">
                    <c:v>工业机器人</c:v>
                  </c:pt>
                  <c:pt idx="2">
                    <c:v>自动化核心部件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31.81</c:v>
                </c:pt>
                <c:pt idx="1">
                  <c:v>31.69</c:v>
                </c:pt>
                <c:pt idx="2">
                  <c:v>32.4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2025H1（%）</c:v>
                </c:pt>
              </c:strCache>
            </c:strRef>
          </c:tx>
          <c:spPr>
            <a:solidFill>
              <a:srgbClr val="C9CF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综合毛利率</c:v>
                  </c:pt>
                  <c:pt idx="1">
                    <c:v>工业机器人</c:v>
                  </c:pt>
                  <c:pt idx="2">
                    <c:v>自动化核心部件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27.64</c:v>
                </c:pt>
                <c:pt idx="1">
                  <c:v>27</c:v>
                </c:pt>
                <c:pt idx="2">
                  <c:v>30.58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封面：深色墨青底 + 机械橙点缀 + 右侧轨道装饰。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目录页：编号 + 标题 + 描述行，细线分隔。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核心结论：三大关键判断卡片。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业绩总览：KPI 条 + 双栏财务明细。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收入结构：分业务柱图 + 境内外环图 + 亮点卡。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盈利质量：毛利率对比图 + 动因拆解。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数据聚焦：深色超大数字页，视觉高潮。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业务版图：left-hub 脑图，藏青主卡锚点 + 白卡彩色侧条 + 灰蓝虚线 S 连接。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市场地位与全球化：里程碑 + 双栏。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展望与风险。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结尾：总结 + 致谢。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0C1B2E"/>
          </a:solidFill>
          <a:ln/>
        </p:spPr>
      </p:sp>
      <p:sp>
        <p:nvSpPr>
          <p:cNvPr id="3" name="Shape 1"/>
          <p:cNvSpPr/>
          <p:nvPr/>
        </p:nvSpPr>
        <p:spPr>
          <a:xfrm>
            <a:off x="7810348" y="-761970"/>
            <a:ext cx="5333878" cy="5333878"/>
          </a:xfrm>
          <a:prstGeom prst="ellipse">
            <a:avLst/>
          </a:prstGeom>
          <a:solidFill>
            <a:srgbClr val="000000">
              <a:alpha val="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62787" y="190470"/>
            <a:ext cx="3428909" cy="3428909"/>
          </a:xfrm>
          <a:prstGeom prst="ellipse">
            <a:avLst/>
          </a:prstGeom>
          <a:solidFill>
            <a:srgbClr val="000000">
              <a:alpha val="0"/>
            </a:srgbClr>
          </a:solidFill>
          <a:ln w="19050">
            <a:solidFill>
              <a:srgbClr val="F26B21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2766" y="1000079"/>
            <a:ext cx="133320" cy="13332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6" name="Text 4"/>
          <p:cNvSpPr/>
          <p:nvPr/>
        </p:nvSpPr>
        <p:spPr>
          <a:xfrm>
            <a:off x="761970" y="685800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spc="200" kern="0" dirty="0">
                <a:solidFill>
                  <a:srgbClr val="7C8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H1 RESULTS</a:t>
            </a:r>
            <a:endParaRPr lang="en-US" sz="870" dirty="0"/>
          </a:p>
        </p:txBody>
      </p:sp>
      <p:sp>
        <p:nvSpPr>
          <p:cNvPr id="7" name="Text 5"/>
          <p:cNvSpPr/>
          <p:nvPr/>
        </p:nvSpPr>
        <p:spPr>
          <a:xfrm>
            <a:off x="761970" y="1600200"/>
            <a:ext cx="9524756" cy="8381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埃斯顿 2026 中期业绩简报</a:t>
            </a:r>
            <a:endParaRPr lang="en-US" sz="3730" dirty="0"/>
          </a:p>
        </p:txBody>
      </p:sp>
      <p:sp>
        <p:nvSpPr>
          <p:cNvPr id="8" name="Shape 6"/>
          <p:cNvSpPr/>
          <p:nvPr/>
        </p:nvSpPr>
        <p:spPr>
          <a:xfrm>
            <a:off x="761970" y="2724089"/>
            <a:ext cx="609539" cy="3813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9" name="Text 7"/>
          <p:cNvSpPr/>
          <p:nvPr/>
        </p:nvSpPr>
        <p:spPr>
          <a:xfrm>
            <a:off x="761970" y="3009839"/>
            <a:ext cx="9524756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0" dirty="0">
                <a:solidFill>
                  <a:srgbClr val="B8C2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 +2,314% · 毛利率 31.8% · 海外收入 +25.1% · A+H 双资本平台</a:t>
            </a:r>
            <a:endParaRPr lang="en-US" sz="1270" dirty="0"/>
          </a:p>
        </p:txBody>
      </p:sp>
      <p:sp>
        <p:nvSpPr>
          <p:cNvPr id="10" name="Shape 8"/>
          <p:cNvSpPr/>
          <p:nvPr/>
        </p:nvSpPr>
        <p:spPr>
          <a:xfrm>
            <a:off x="761970" y="4571909"/>
            <a:ext cx="3428909" cy="1219170"/>
          </a:xfrm>
          <a:prstGeom prst="roundRect">
            <a:avLst>
              <a:gd name="adj" fmla="val 1093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1970" y="4819528"/>
            <a:ext cx="3428909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25.78 亿元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61970" y="5276728"/>
            <a:ext cx="34289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营业收入 · 同比 +1.14%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4381348" y="4571909"/>
            <a:ext cx="3428909" cy="1219170"/>
          </a:xfrm>
          <a:prstGeom prst="roundRect">
            <a:avLst>
              <a:gd name="adj" fmla="val 1093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348" y="4819528"/>
            <a:ext cx="3428909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+2,314%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381348" y="5276728"/>
            <a:ext cx="34289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归母净利润增速 · 1.61 亿元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8000817" y="4571909"/>
            <a:ext cx="3428909" cy="1219170"/>
          </a:xfrm>
          <a:prstGeom prst="roundRect">
            <a:avLst>
              <a:gd name="adj" fmla="val 1093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0817" y="4819528"/>
            <a:ext cx="3428909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31.81%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000817" y="5276728"/>
            <a:ext cx="342890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综合毛利率 · 同比 +4.17pct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761970" y="6324448"/>
            <a:ext cx="10667756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2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数据来源：公司 2026 年半年度报告（深交所披露）· MIR DATABANK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380993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870" dirty="0"/>
          </a:p>
        </p:txBody>
      </p:sp>
      <p:sp>
        <p:nvSpPr>
          <p:cNvPr id="6" name="Text 4"/>
          <p:cNvSpPr/>
          <p:nvPr/>
        </p:nvSpPr>
        <p:spPr>
          <a:xfrm>
            <a:off x="1047720" y="1600200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70" dirty="0"/>
          </a:p>
        </p:txBody>
      </p:sp>
      <p:sp>
        <p:nvSpPr>
          <p:cNvPr id="7" name="Text 5"/>
          <p:cNvSpPr/>
          <p:nvPr/>
        </p:nvSpPr>
        <p:spPr>
          <a:xfrm>
            <a:off x="1809689" y="1619220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09689" y="1962120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三大关键判断：拐点、质量、全球化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1047720" y="2324039"/>
            <a:ext cx="10096256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10" name="Text 8"/>
          <p:cNvSpPr/>
          <p:nvPr/>
        </p:nvSpPr>
        <p:spPr>
          <a:xfrm>
            <a:off x="1047720" y="2457359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70" dirty="0"/>
          </a:p>
        </p:txBody>
      </p:sp>
      <p:sp>
        <p:nvSpPr>
          <p:cNvPr id="11" name="Text 9"/>
          <p:cNvSpPr/>
          <p:nvPr/>
        </p:nvSpPr>
        <p:spPr>
          <a:xfrm>
            <a:off x="1809689" y="2476470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业绩总览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09689" y="2819370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关键财务指标全景：利润表 / 资产负债 / 现金流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1047720" y="3181289"/>
            <a:ext cx="10096256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20" y="3314609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70" dirty="0"/>
          </a:p>
        </p:txBody>
      </p:sp>
      <p:sp>
        <p:nvSpPr>
          <p:cNvPr id="15" name="Text 13"/>
          <p:cNvSpPr/>
          <p:nvPr/>
        </p:nvSpPr>
        <p:spPr>
          <a:xfrm>
            <a:off x="1809689" y="3333628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收入结构与盈利质量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809689" y="3676528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 +25% 对冲境内压降 · 毛利率全线提升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047720" y="4038539"/>
            <a:ext cx="10096256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720" y="4171859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70" dirty="0"/>
          </a:p>
        </p:txBody>
      </p:sp>
      <p:sp>
        <p:nvSpPr>
          <p:cNvPr id="19" name="Text 17"/>
          <p:cNvSpPr/>
          <p:nvPr/>
        </p:nvSpPr>
        <p:spPr>
          <a:xfrm>
            <a:off x="1809689" y="4190878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数据聚焦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09689" y="4533778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本期最鲜明的三组数字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1047720" y="4895698"/>
            <a:ext cx="10096256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22" name="Text 20"/>
          <p:cNvSpPr/>
          <p:nvPr/>
        </p:nvSpPr>
        <p:spPr>
          <a:xfrm>
            <a:off x="1047720" y="5029109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70" dirty="0"/>
          </a:p>
        </p:txBody>
      </p:sp>
      <p:sp>
        <p:nvSpPr>
          <p:cNvPr id="23" name="Text 21"/>
          <p:cNvSpPr/>
          <p:nvPr/>
        </p:nvSpPr>
        <p:spPr>
          <a:xfrm>
            <a:off x="1809689" y="5048128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市场地位与全球化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09689" y="5391028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八年国产第一 · A+H 双平台 · 欧洲突破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1047720" y="5752948"/>
            <a:ext cx="10096256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26" name="Text 24"/>
          <p:cNvSpPr/>
          <p:nvPr/>
        </p:nvSpPr>
        <p:spPr>
          <a:xfrm>
            <a:off x="1047720" y="5886267"/>
            <a:ext cx="571500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70" dirty="0"/>
          </a:p>
        </p:txBody>
      </p:sp>
      <p:sp>
        <p:nvSpPr>
          <p:cNvPr id="27" name="Text 25"/>
          <p:cNvSpPr/>
          <p:nvPr/>
        </p:nvSpPr>
        <p:spPr>
          <a:xfrm>
            <a:off x="1809689" y="5905378"/>
            <a:ext cx="4762378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展望与风险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809689" y="6248278"/>
            <a:ext cx="66673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下半年四大看点与风险提示</a:t>
            </a:r>
            <a:endParaRPr lang="en-US" sz="870" dirty="0"/>
          </a:p>
        </p:txBody>
      </p:sp>
      <p:sp>
        <p:nvSpPr>
          <p:cNvPr id="29" name="Shape 27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30" name="Text 28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31" name="Text 29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10</a:t>
            </a:r>
            <a:endParaRPr lang="en-US" sz="6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核心结论：从规模扩张到质量增长</a:t>
            </a:r>
            <a:endParaRPr lang="en-US" sz="1870" dirty="0"/>
          </a:p>
        </p:txBody>
      </p:sp>
      <p:sp>
        <p:nvSpPr>
          <p:cNvPr id="6" name="Text 4"/>
          <p:cNvSpPr/>
          <p:nvPr/>
        </p:nvSpPr>
        <p:spPr>
          <a:xfrm>
            <a:off x="761970" y="1238189"/>
            <a:ext cx="10477195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在营收基本持平的背景下，公司盈利、现金流、资产质量全面改善，盈利拐点确认。</a:t>
            </a:r>
            <a:endParaRPr lang="en-US" sz="1070" dirty="0"/>
          </a:p>
        </p:txBody>
      </p:sp>
      <p:sp>
        <p:nvSpPr>
          <p:cNvPr id="7" name="Shape 5"/>
          <p:cNvSpPr/>
          <p:nvPr/>
        </p:nvSpPr>
        <p:spPr>
          <a:xfrm>
            <a:off x="571500" y="1904970"/>
            <a:ext cx="3552718" cy="3428909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" y="1904970"/>
            <a:ext cx="355271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9" name="Text 7"/>
          <p:cNvSpPr/>
          <p:nvPr/>
        </p:nvSpPr>
        <p:spPr>
          <a:xfrm>
            <a:off x="876270" y="220973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spc="100" kern="0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拐点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876270" y="2552639"/>
            <a:ext cx="2943179" cy="609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+2,314%</a:t>
            </a:r>
            <a:endParaRPr lang="en-US" sz="2930" dirty="0"/>
          </a:p>
        </p:txBody>
      </p:sp>
      <p:sp>
        <p:nvSpPr>
          <p:cNvPr id="11" name="Text 9"/>
          <p:cNvSpPr/>
          <p:nvPr/>
        </p:nvSpPr>
        <p:spPr>
          <a:xfrm>
            <a:off x="876270" y="3314609"/>
            <a:ext cx="2943179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归母净利润 1.61 亿元，同比 +2,314.23%；扣非净利润 0.70 亿元，扭亏为盈。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76270" y="4476628"/>
            <a:ext cx="294317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13" name="Text 11"/>
          <p:cNvSpPr/>
          <p:nvPr/>
        </p:nvSpPr>
        <p:spPr>
          <a:xfrm>
            <a:off x="876270" y="462905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 EPS 0.1762 元 · +1,662%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4314688" y="1904970"/>
            <a:ext cx="3552718" cy="3428909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14688" y="1904970"/>
            <a:ext cx="355271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16" name="Text 14"/>
          <p:cNvSpPr/>
          <p:nvPr/>
        </p:nvSpPr>
        <p:spPr>
          <a:xfrm>
            <a:off x="4619549" y="220973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spc="100" kern="0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4619549" y="2552639"/>
            <a:ext cx="2943179" cy="609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31.81%</a:t>
            </a:r>
            <a:endParaRPr lang="en-US" sz="2930" dirty="0"/>
          </a:p>
        </p:txBody>
      </p:sp>
      <p:sp>
        <p:nvSpPr>
          <p:cNvPr id="18" name="Text 16"/>
          <p:cNvSpPr/>
          <p:nvPr/>
        </p:nvSpPr>
        <p:spPr>
          <a:xfrm>
            <a:off x="4619549" y="3314609"/>
            <a:ext cx="2943179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综合毛利率 +4.17pct；经营现金流 +0.45 亿元，由负转正；期间费用率同比下降。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619549" y="4476628"/>
            <a:ext cx="294317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0" name="Text 18"/>
          <p:cNvSpPr/>
          <p:nvPr/>
        </p:nvSpPr>
        <p:spPr>
          <a:xfrm>
            <a:off x="4619549" y="462905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 ROE 6.16% · +5.79pct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8057967" y="1904970"/>
            <a:ext cx="3552718" cy="3428909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57967" y="1904970"/>
            <a:ext cx="355271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23" name="Text 21"/>
          <p:cNvSpPr/>
          <p:nvPr/>
        </p:nvSpPr>
        <p:spPr>
          <a:xfrm>
            <a:off x="8362737" y="220973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spc="100" kern="0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全球化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8362737" y="2552639"/>
            <a:ext cx="2943179" cy="609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+25.06%</a:t>
            </a:r>
            <a:endParaRPr lang="en-US" sz="2930" dirty="0"/>
          </a:p>
        </p:txBody>
      </p:sp>
      <p:sp>
        <p:nvSpPr>
          <p:cNvPr id="25" name="Text 23"/>
          <p:cNvSpPr/>
          <p:nvPr/>
        </p:nvSpPr>
        <p:spPr>
          <a:xfrm>
            <a:off x="8362737" y="3314609"/>
            <a:ext cx="2943179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海外收入 9.36 亿元，占比升至 36.3%；H 股成功发行，「A+H」双资本平台落地。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362737" y="4476628"/>
            <a:ext cx="294317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7" name="Text 25"/>
          <p:cNvSpPr/>
          <p:nvPr/>
        </p:nvSpPr>
        <p:spPr>
          <a:xfrm>
            <a:off x="8362737" y="4629059"/>
            <a:ext cx="294317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波兰基地投运 · 欧洲订单快速增长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571500" y="5714817"/>
            <a:ext cx="11048695" cy="571500"/>
          </a:xfrm>
          <a:prstGeom prst="roundRect">
            <a:avLst>
              <a:gd name="adj" fmla="val 20000"/>
            </a:avLst>
          </a:prstGeom>
          <a:solidFill>
            <a:srgbClr val="0C1B2E"/>
          </a:solidFill>
          <a:ln/>
        </p:spPr>
      </p:sp>
      <p:sp>
        <p:nvSpPr>
          <p:cNvPr id="29" name="Text 27"/>
          <p:cNvSpPr/>
          <p:nvPr/>
        </p:nvSpPr>
        <p:spPr>
          <a:xfrm>
            <a:off x="571500" y="5714817"/>
            <a:ext cx="11048695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 +1.14% 持平背景下，归母净利 +2,314%：高质量发展策略成效显现</a:t>
            </a:r>
            <a:endParaRPr lang="en-US" sz="1130" dirty="0"/>
          </a:p>
        </p:txBody>
      </p:sp>
      <p:sp>
        <p:nvSpPr>
          <p:cNvPr id="30" name="Shape 28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31" name="Text 29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10</a:t>
            </a:r>
            <a:endParaRPr lang="en-US" sz="6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METRICS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业绩总览：关键财务指标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571500" y="1333470"/>
            <a:ext cx="2619299" cy="1143000"/>
          </a:xfrm>
          <a:prstGeom prst="roundRect">
            <a:avLst>
              <a:gd name="adj" fmla="val 11664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0100" y="1504920"/>
            <a:ext cx="216209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营业收入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00100" y="1752539"/>
            <a:ext cx="216209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25.78 亿</a:t>
            </a:r>
            <a:endParaRPr lang="en-US" sz="1730" dirty="0"/>
          </a:p>
        </p:txBody>
      </p:sp>
      <p:sp>
        <p:nvSpPr>
          <p:cNvPr id="9" name="Text 7"/>
          <p:cNvSpPr/>
          <p:nvPr/>
        </p:nvSpPr>
        <p:spPr>
          <a:xfrm>
            <a:off x="800100" y="2171609"/>
            <a:ext cx="2162099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+1.14%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381268" y="1333470"/>
            <a:ext cx="2619299" cy="1143000"/>
          </a:xfrm>
          <a:prstGeom prst="roundRect">
            <a:avLst>
              <a:gd name="adj" fmla="val 11664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9868" y="1504920"/>
            <a:ext cx="216209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归母净利润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09868" y="1752539"/>
            <a:ext cx="216209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1.61 亿</a:t>
            </a:r>
            <a:endParaRPr lang="en-US" sz="1730" dirty="0"/>
          </a:p>
        </p:txBody>
      </p:sp>
      <p:sp>
        <p:nvSpPr>
          <p:cNvPr id="13" name="Text 11"/>
          <p:cNvSpPr/>
          <p:nvPr/>
        </p:nvSpPr>
        <p:spPr>
          <a:xfrm>
            <a:off x="3609868" y="2171609"/>
            <a:ext cx="2162099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+2,314.23%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91128" y="1333470"/>
            <a:ext cx="2619299" cy="1143000"/>
          </a:xfrm>
          <a:prstGeom prst="roundRect">
            <a:avLst>
              <a:gd name="adj" fmla="val 11664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728" y="1504920"/>
            <a:ext cx="216209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扣非净利润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19728" y="1752539"/>
            <a:ext cx="216209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亿</a:t>
            </a:r>
            <a:endParaRPr lang="en-US" sz="1730" dirty="0"/>
          </a:p>
        </p:txBody>
      </p:sp>
      <p:sp>
        <p:nvSpPr>
          <p:cNvPr id="17" name="Text 15"/>
          <p:cNvSpPr/>
          <p:nvPr/>
        </p:nvSpPr>
        <p:spPr>
          <a:xfrm>
            <a:off x="6419728" y="2171609"/>
            <a:ext cx="2162099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扭亏为盈 · +498.64%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000896" y="1333470"/>
            <a:ext cx="2619299" cy="1143000"/>
          </a:xfrm>
          <a:prstGeom prst="roundRect">
            <a:avLst>
              <a:gd name="adj" fmla="val 11664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9496" y="1504920"/>
            <a:ext cx="216209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经营现金流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29496" y="1752539"/>
            <a:ext cx="2162099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+0.45 亿</a:t>
            </a:r>
            <a:endParaRPr lang="en-US" sz="1730" dirty="0"/>
          </a:p>
        </p:txBody>
      </p:sp>
      <p:sp>
        <p:nvSpPr>
          <p:cNvPr id="21" name="Text 19"/>
          <p:cNvSpPr/>
          <p:nvPr/>
        </p:nvSpPr>
        <p:spPr>
          <a:xfrm>
            <a:off x="9229496" y="2171609"/>
            <a:ext cx="2162099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由负转正 · +137.27%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71500" y="2857409"/>
            <a:ext cx="5333878" cy="3238439"/>
          </a:xfrm>
          <a:prstGeom prst="roundRect">
            <a:avLst>
              <a:gd name="adj" fmla="val 411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8139" y="3066989"/>
            <a:ext cx="380993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利润表摘要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38139" y="344792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5" name="Text 23"/>
          <p:cNvSpPr/>
          <p:nvPr/>
        </p:nvSpPr>
        <p:spPr>
          <a:xfrm>
            <a:off x="838139" y="360035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营业成本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2971709" y="360035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17.58 亿元 · -4.70%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838139" y="398138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销售费用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2971709" y="398138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2.00 亿元 · -6.47%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>
            <a:off x="838139" y="4362328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管理费用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2971709" y="4362328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2.06 亿元 · +0.38%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838139" y="474335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财务费用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2971709" y="474335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0.76 亿元 · -9.93%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838139" y="5124298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研发投入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2971709" y="5124298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2.50 亿元 · 占收入 9.70%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838139" y="556247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36" name="Text 34"/>
          <p:cNvSpPr/>
          <p:nvPr/>
        </p:nvSpPr>
        <p:spPr>
          <a:xfrm>
            <a:off x="838139" y="5676778"/>
            <a:ext cx="48005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期间费用率同比下降，精细化预算管控见效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286317" y="2857409"/>
            <a:ext cx="5333878" cy="3238439"/>
          </a:xfrm>
          <a:prstGeom prst="roundRect">
            <a:avLst>
              <a:gd name="adj" fmla="val 411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3048" y="3066989"/>
            <a:ext cx="380993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资产负债与现金流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553048" y="344792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40" name="Text 38"/>
          <p:cNvSpPr/>
          <p:nvPr/>
        </p:nvSpPr>
        <p:spPr>
          <a:xfrm>
            <a:off x="6553048" y="360035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总资产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8686617" y="360035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104.88 亿元 · 较上年末 +11.40%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6553048" y="398138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归母净资产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8686617" y="398138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32.78 亿元 · +67.11%</a:t>
            </a:r>
            <a:endParaRPr lang="en-US" sz="930" dirty="0"/>
          </a:p>
        </p:txBody>
      </p:sp>
      <p:sp>
        <p:nvSpPr>
          <p:cNvPr id="44" name="Text 42"/>
          <p:cNvSpPr/>
          <p:nvPr/>
        </p:nvSpPr>
        <p:spPr>
          <a:xfrm>
            <a:off x="6553048" y="4362328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经营现金流净额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8686617" y="4362328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+0.45 亿元 · 转正</a:t>
            </a:r>
            <a:endParaRPr lang="en-US" sz="930" dirty="0"/>
          </a:p>
        </p:txBody>
      </p:sp>
      <p:sp>
        <p:nvSpPr>
          <p:cNvPr id="46" name="Text 44"/>
          <p:cNvSpPr/>
          <p:nvPr/>
        </p:nvSpPr>
        <p:spPr>
          <a:xfrm>
            <a:off x="6553048" y="474335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筹资现金流净额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8686617" y="4743359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+12.65 亿元 · H 股募资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553048" y="5124298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现金净增加额</a:t>
            </a:r>
            <a:endParaRPr lang="en-US" sz="930" dirty="0"/>
          </a:p>
        </p:txBody>
      </p:sp>
      <p:sp>
        <p:nvSpPr>
          <p:cNvPr id="49" name="Text 47"/>
          <p:cNvSpPr/>
          <p:nvPr/>
        </p:nvSpPr>
        <p:spPr>
          <a:xfrm>
            <a:off x="8686617" y="5124298"/>
            <a:ext cx="266693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+9.37 亿元 · +430.57%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6553048" y="556247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51" name="Text 49"/>
          <p:cNvSpPr/>
          <p:nvPr/>
        </p:nvSpPr>
        <p:spPr>
          <a:xfrm>
            <a:off x="6553048" y="5676778"/>
            <a:ext cx="48005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股发行落地，资本结构显著增强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53" name="Text 51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54" name="Text 52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10</a:t>
            </a:r>
            <a:endParaRPr lang="en-US" sz="6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REVENUE STRUCTURE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收入结构：海外 +25% 对冲境内压降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571500" y="1333470"/>
            <a:ext cx="5905378" cy="4190878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61970" y="1523939"/>
          <a:ext cx="5524348" cy="380993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857817" y="1333470"/>
            <a:ext cx="4762378" cy="2476470"/>
          </a:xfrm>
          <a:prstGeom prst="roundRect">
            <a:avLst>
              <a:gd name="adj" fmla="val 5383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7048287" y="1428750"/>
          <a:ext cx="4381348" cy="228590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6857817" y="4000409"/>
            <a:ext cx="4762378" cy="1523939"/>
          </a:xfrm>
          <a:prstGeom prst="roundRect">
            <a:avLst>
              <a:gd name="adj" fmla="val 8748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857817" y="4000409"/>
            <a:ext cx="476237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12" name="Text 8"/>
          <p:cNvSpPr/>
          <p:nvPr/>
        </p:nvSpPr>
        <p:spPr>
          <a:xfrm>
            <a:off x="7124548" y="4229009"/>
            <a:ext cx="42290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海外收入 9.36 亿元 · +25.06%</a:t>
            </a:r>
            <a:endParaRPr lang="en-US" sz="1130" dirty="0"/>
          </a:p>
        </p:txBody>
      </p:sp>
      <p:sp>
        <p:nvSpPr>
          <p:cNvPr id="13" name="Text 9"/>
          <p:cNvSpPr/>
          <p:nvPr/>
        </p:nvSpPr>
        <p:spPr>
          <a:xfrm>
            <a:off x="7124548" y="4590928"/>
            <a:ext cx="4229009" cy="7619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 36.3%（+7.0pct）：欧洲头部客户放量、波兰基地投运；境内 16.41 亿元（-8.82%）为主动压降低毛利业务。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571500" y="5810098"/>
            <a:ext cx="11048695" cy="476220"/>
          </a:xfrm>
          <a:prstGeom prst="roundRect">
            <a:avLst>
              <a:gd name="adj" fmla="val 24002"/>
            </a:avLst>
          </a:prstGeom>
          <a:solidFill>
            <a:srgbClr val="0C1B2E"/>
          </a:solidFill>
          <a:ln/>
        </p:spPr>
      </p:sp>
      <p:sp>
        <p:nvSpPr>
          <p:cNvPr id="15" name="Text 11"/>
          <p:cNvSpPr/>
          <p:nvPr/>
        </p:nvSpPr>
        <p:spPr>
          <a:xfrm>
            <a:off x="571500" y="5810098"/>
            <a:ext cx="11048695" cy="476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「Local for Global」全球化战略持续兑现，海外成为第二增长曲线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17" name="Text 13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18" name="Text 14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10</a:t>
            </a:r>
            <a:endParaRPr lang="en-US" sz="6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PROFITABILITY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盈利质量：毛利率全线提升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571500" y="1333470"/>
            <a:ext cx="5905378" cy="4190878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61970" y="1523939"/>
          <a:ext cx="5524348" cy="380993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857817" y="1333470"/>
            <a:ext cx="4762378" cy="4190878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7817" y="1333470"/>
            <a:ext cx="476237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10" name="Text 7"/>
          <p:cNvSpPr/>
          <p:nvPr/>
        </p:nvSpPr>
        <p:spPr>
          <a:xfrm>
            <a:off x="7124548" y="1543050"/>
            <a:ext cx="419087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改善动因拆解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124548" y="1943009"/>
            <a:ext cx="42290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12" name="Text 9"/>
          <p:cNvSpPr/>
          <p:nvPr/>
        </p:nvSpPr>
        <p:spPr>
          <a:xfrm>
            <a:off x="7124548" y="2114459"/>
            <a:ext cx="104772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结构优化</a:t>
            </a:r>
            <a:endParaRPr lang="en-US" sz="930" dirty="0"/>
          </a:p>
        </p:txBody>
      </p:sp>
      <p:sp>
        <p:nvSpPr>
          <p:cNvPr id="13" name="Text 10"/>
          <p:cNvSpPr/>
          <p:nvPr/>
        </p:nvSpPr>
        <p:spPr>
          <a:xfrm>
            <a:off x="8267456" y="2114459"/>
            <a:ext cx="30860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压降低毛利订单，聚焦高端应用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7124548" y="2495489"/>
            <a:ext cx="104772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降本增效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8267456" y="2495489"/>
            <a:ext cx="30860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供应链优化 · 原材料国产替代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124548" y="2876520"/>
            <a:ext cx="104772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费用管控</a:t>
            </a:r>
            <a:endParaRPr lang="en-US" sz="930" dirty="0"/>
          </a:p>
        </p:txBody>
      </p:sp>
      <p:sp>
        <p:nvSpPr>
          <p:cNvPr id="17" name="Text 14"/>
          <p:cNvSpPr/>
          <p:nvPr/>
        </p:nvSpPr>
        <p:spPr>
          <a:xfrm>
            <a:off x="8267456" y="2876520"/>
            <a:ext cx="30860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销售费用 -6.5% · 财务费用 -9.9%</a:t>
            </a:r>
            <a:endParaRPr lang="en-US" sz="930" dirty="0"/>
          </a:p>
        </p:txBody>
      </p:sp>
      <p:sp>
        <p:nvSpPr>
          <p:cNvPr id="18" name="Text 15"/>
          <p:cNvSpPr/>
          <p:nvPr/>
        </p:nvSpPr>
        <p:spPr>
          <a:xfrm>
            <a:off x="7124548" y="3257459"/>
            <a:ext cx="104772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研发投入</a:t>
            </a:r>
            <a:endParaRPr lang="en-US" sz="930" dirty="0"/>
          </a:p>
        </p:txBody>
      </p:sp>
      <p:sp>
        <p:nvSpPr>
          <p:cNvPr id="19" name="Text 16"/>
          <p:cNvSpPr/>
          <p:nvPr/>
        </p:nvSpPr>
        <p:spPr>
          <a:xfrm>
            <a:off x="8267456" y="3257459"/>
            <a:ext cx="3086009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2.50 亿元 · 占收入 9.70%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7124548" y="3771809"/>
            <a:ext cx="4229009" cy="609539"/>
          </a:xfrm>
          <a:prstGeom prst="roundRect">
            <a:avLst>
              <a:gd name="adj" fmla="val 18752"/>
            </a:avLst>
          </a:prstGeom>
          <a:solidFill>
            <a:srgbClr val="0C1B2E"/>
          </a:solidFill>
          <a:ln/>
        </p:spPr>
      </p:sp>
      <p:sp>
        <p:nvSpPr>
          <p:cNvPr id="21" name="Text 18"/>
          <p:cNvSpPr/>
          <p:nvPr/>
        </p:nvSpPr>
        <p:spPr>
          <a:xfrm>
            <a:off x="7124548" y="3771809"/>
            <a:ext cx="4229009" cy="6095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注意：归母净利中约 1.0 亿元来自股权置换公允价值变动</a:t>
            </a:r>
            <a:endParaRPr lang="en-US" sz="870" dirty="0"/>
          </a:p>
        </p:txBody>
      </p:sp>
      <p:sp>
        <p:nvSpPr>
          <p:cNvPr id="22" name="Text 19"/>
          <p:cNvSpPr/>
          <p:nvPr/>
        </p:nvSpPr>
        <p:spPr>
          <a:xfrm>
            <a:off x="7124548" y="4609948"/>
            <a:ext cx="4229009" cy="476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减值计提同比增加（应收账款、存货），体现谨慎性原则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71500" y="5810098"/>
            <a:ext cx="11048695" cy="476220"/>
          </a:xfrm>
          <a:prstGeom prst="roundRect">
            <a:avLst>
              <a:gd name="adj" fmla="val 24002"/>
            </a:avLst>
          </a:prstGeom>
          <a:solidFill>
            <a:srgbClr val="0C1B2E"/>
          </a:solidFill>
          <a:ln/>
        </p:spPr>
      </p:sp>
      <p:sp>
        <p:nvSpPr>
          <p:cNvPr id="24" name="Text 21"/>
          <p:cNvSpPr/>
          <p:nvPr/>
        </p:nvSpPr>
        <p:spPr>
          <a:xfrm>
            <a:off x="571500" y="5810098"/>
            <a:ext cx="11048695" cy="476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扣非净利润 7,017 万元（+498.64%）：主业盈利改善为真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26" name="Text 23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27" name="Text 24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10</a:t>
            </a:r>
            <a:endParaRPr lang="en-US" sz="6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0C1B2E"/>
          </a:solidFill>
          <a:ln/>
        </p:spPr>
      </p:sp>
      <p:sp>
        <p:nvSpPr>
          <p:cNvPr id="3" name="Shape 1"/>
          <p:cNvSpPr/>
          <p:nvPr/>
        </p:nvSpPr>
        <p:spPr>
          <a:xfrm>
            <a:off x="8953256" y="3809939"/>
            <a:ext cx="4571909" cy="4571909"/>
          </a:xfrm>
          <a:prstGeom prst="ellipse">
            <a:avLst/>
          </a:prstGeom>
          <a:solidFill>
            <a:srgbClr val="000000">
              <a:alpha val="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1970" y="761970"/>
            <a:ext cx="5714817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C8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SPOTLIGHT · 2026 H1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61970" y="1143000"/>
            <a:ext cx="457200" cy="28529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6" name="Text 4"/>
          <p:cNvSpPr/>
          <p:nvPr/>
        </p:nvSpPr>
        <p:spPr>
          <a:xfrm>
            <a:off x="761970" y="1809689"/>
            <a:ext cx="6667348" cy="1428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3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+2,314%</a:t>
            </a:r>
            <a:endParaRPr lang="en-US" sz="7330" dirty="0"/>
          </a:p>
        </p:txBody>
      </p:sp>
      <p:sp>
        <p:nvSpPr>
          <p:cNvPr id="7" name="Text 5"/>
          <p:cNvSpPr/>
          <p:nvPr/>
        </p:nvSpPr>
        <p:spPr>
          <a:xfrm>
            <a:off x="800100" y="3428909"/>
            <a:ext cx="6667348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2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归母净利润同比增速 · 净利润 1.61 亿元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970" y="4381348"/>
            <a:ext cx="4952848" cy="951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286317" y="4381348"/>
            <a:ext cx="4952848" cy="951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61970" y="4762378"/>
            <a:ext cx="49528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31.81%</a:t>
            </a:r>
            <a:endParaRPr lang="en-US" sz="3470" dirty="0"/>
          </a:p>
        </p:txBody>
      </p:sp>
      <p:sp>
        <p:nvSpPr>
          <p:cNvPr id="11" name="Text 9"/>
          <p:cNvSpPr/>
          <p:nvPr/>
        </p:nvSpPr>
        <p:spPr>
          <a:xfrm>
            <a:off x="800100" y="5562478"/>
            <a:ext cx="4762378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综合毛利率 · +4.17pct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6286317" y="4762378"/>
            <a:ext cx="49528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9.36 亿</a:t>
            </a:r>
            <a:endParaRPr lang="en-US" sz="3470" dirty="0"/>
          </a:p>
        </p:txBody>
      </p:sp>
      <p:sp>
        <p:nvSpPr>
          <p:cNvPr id="13" name="Text 11"/>
          <p:cNvSpPr/>
          <p:nvPr/>
        </p:nvSpPr>
        <p:spPr>
          <a:xfrm>
            <a:off x="6324448" y="5562478"/>
            <a:ext cx="4762378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海外业务收入 · +25.06%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761970" y="6324448"/>
            <a:ext cx="5714817" cy="1904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6672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数据来源：公司 2026 年半年度报告</a:t>
            </a:r>
            <a:endParaRPr lang="en-US" sz="7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MAP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业务版图：一体两翼，全球延伸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2762220" y="1857329"/>
            <a:ext cx="857250" cy="1857329"/>
          </a:xfrm>
          <a:custGeom>
            <a:avLst/>
            <a:gdLst/>
            <a:ahLst/>
            <a:cxnLst/>
            <a:rect l="l" t="t" r="r" b="b"/>
            <a:pathLst>
              <a:path w="857250" h="1857329">
                <a:moveTo>
                  <a:pt x="0" y="1857329"/>
                </a:moveTo>
                <a:cubicBezTo>
                  <a:pt x="428579" y="1857329"/>
                  <a:pt x="428579" y="0"/>
                  <a:pt x="857250" y="0"/>
                </a:cubicBezTo>
              </a:path>
            </a:pathLst>
          </a:custGeom>
          <a:solidFill>
            <a:srgbClr val="000000">
              <a:alpha val="0"/>
            </a:srgbClr>
          </a:solidFill>
          <a:ln w="25400">
            <a:solidFill>
              <a:srgbClr val="A5B0C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62220" y="2905049"/>
            <a:ext cx="857250" cy="809610"/>
          </a:xfrm>
          <a:custGeom>
            <a:avLst/>
            <a:gdLst/>
            <a:ahLst/>
            <a:cxnLst/>
            <a:rect l="l" t="t" r="r" b="b"/>
            <a:pathLst>
              <a:path w="857250" h="809610">
                <a:moveTo>
                  <a:pt x="0" y="809610"/>
                </a:moveTo>
                <a:cubicBezTo>
                  <a:pt x="428579" y="809610"/>
                  <a:pt x="428579" y="0"/>
                  <a:pt x="857250" y="0"/>
                </a:cubicBezTo>
              </a:path>
            </a:pathLst>
          </a:custGeom>
          <a:solidFill>
            <a:srgbClr val="000000">
              <a:alpha val="0"/>
            </a:srgbClr>
          </a:solidFill>
          <a:ln w="25400">
            <a:solidFill>
              <a:srgbClr val="A5B0C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62220" y="3714659"/>
            <a:ext cx="857250" cy="238110"/>
          </a:xfrm>
          <a:custGeom>
            <a:avLst/>
            <a:gdLst/>
            <a:ahLst/>
            <a:cxnLst/>
            <a:rect l="l" t="t" r="r" b="b"/>
            <a:pathLst>
              <a:path w="857250" h="238110">
                <a:moveTo>
                  <a:pt x="0" y="0"/>
                </a:moveTo>
                <a:cubicBezTo>
                  <a:pt x="428579" y="0"/>
                  <a:pt x="428579" y="238110"/>
                  <a:pt x="857250" y="238110"/>
                </a:cubicBezTo>
              </a:path>
            </a:pathLst>
          </a:custGeom>
          <a:solidFill>
            <a:srgbClr val="000000">
              <a:alpha val="0"/>
            </a:srgbClr>
          </a:solidFill>
          <a:ln w="25400">
            <a:solidFill>
              <a:srgbClr val="A5B0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762220" y="3714659"/>
            <a:ext cx="857250" cy="1285829"/>
          </a:xfrm>
          <a:custGeom>
            <a:avLst/>
            <a:gdLst/>
            <a:ahLst/>
            <a:cxnLst/>
            <a:rect l="l" t="t" r="r" b="b"/>
            <a:pathLst>
              <a:path w="857250" h="1285829">
                <a:moveTo>
                  <a:pt x="0" y="0"/>
                </a:moveTo>
                <a:cubicBezTo>
                  <a:pt x="428579" y="0"/>
                  <a:pt x="428579" y="1285829"/>
                  <a:pt x="857250" y="1285829"/>
                </a:cubicBezTo>
              </a:path>
            </a:pathLst>
          </a:custGeom>
          <a:solidFill>
            <a:srgbClr val="000000">
              <a:alpha val="0"/>
            </a:srgbClr>
          </a:solidFill>
          <a:ln w="25400">
            <a:solidFill>
              <a:srgbClr val="A5B0C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571500" y="3238439"/>
            <a:ext cx="2190720" cy="952439"/>
          </a:xfrm>
          <a:prstGeom prst="roundRect">
            <a:avLst>
              <a:gd name="adj" fmla="val 16004"/>
            </a:avLst>
          </a:prstGeom>
          <a:solidFill>
            <a:srgbClr val="0C1B2E"/>
          </a:solidFill>
          <a:ln/>
        </p:spPr>
      </p:sp>
      <p:sp>
        <p:nvSpPr>
          <p:cNvPr id="11" name="Text 9"/>
          <p:cNvSpPr/>
          <p:nvPr/>
        </p:nvSpPr>
        <p:spPr>
          <a:xfrm>
            <a:off x="571500" y="3238439"/>
            <a:ext cx="609539" cy="952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1039" y="3352739"/>
            <a:ext cx="158108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埃斯顿自动化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1181039" y="3657509"/>
            <a:ext cx="158108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5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业务版图 · 2026H1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19378" y="1438260"/>
            <a:ext cx="2857409" cy="838139"/>
          </a:xfrm>
          <a:prstGeom prst="roundRect">
            <a:avLst>
              <a:gd name="adj" fmla="val 1590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9378" y="1438260"/>
            <a:ext cx="47640" cy="838139"/>
          </a:xfrm>
          <a:prstGeom prst="roundRect">
            <a:avLst>
              <a:gd name="adj" fmla="val 39923"/>
            </a:avLst>
          </a:prstGeom>
          <a:solidFill>
            <a:srgbClr val="F26B21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7978" y="1647749"/>
            <a:ext cx="419070" cy="419070"/>
          </a:xfrm>
          <a:prstGeom prst="roundRect">
            <a:avLst>
              <a:gd name="adj" fmla="val 22736"/>
            </a:avLst>
          </a:prstGeom>
          <a:solidFill>
            <a:srgbClr val="EBDFD8"/>
          </a:solidFill>
          <a:ln/>
        </p:spPr>
      </p:sp>
      <p:sp>
        <p:nvSpPr>
          <p:cNvPr id="17" name="Text 15"/>
          <p:cNvSpPr/>
          <p:nvPr/>
        </p:nvSpPr>
        <p:spPr>
          <a:xfrm>
            <a:off x="3847978" y="1647749"/>
            <a:ext cx="419070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🤖</a:t>
            </a:r>
            <a:endParaRPr lang="en-US" sz="1470" dirty="0"/>
          </a:p>
        </p:txBody>
      </p:sp>
      <p:sp>
        <p:nvSpPr>
          <p:cNvPr id="18" name="Text 16"/>
          <p:cNvSpPr/>
          <p:nvPr/>
        </p:nvSpPr>
        <p:spPr>
          <a:xfrm>
            <a:off x="4381348" y="1495410"/>
            <a:ext cx="200015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工业机器人及智能制造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4381348" y="1800179"/>
            <a:ext cx="200015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21.38 亿元 · 占比 82.96%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81348" y="2028779"/>
            <a:ext cx="200015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+2.21%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3619378" y="2485979"/>
            <a:ext cx="2857409" cy="838139"/>
          </a:xfrm>
          <a:prstGeom prst="roundRect">
            <a:avLst>
              <a:gd name="adj" fmla="val 1590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19378" y="2485979"/>
            <a:ext cx="47640" cy="838139"/>
          </a:xfrm>
          <a:prstGeom prst="roundRect">
            <a:avLst>
              <a:gd name="adj" fmla="val 39923"/>
            </a:avLst>
          </a:prstGeom>
          <a:solidFill>
            <a:srgbClr val="4A7BA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47978" y="2695468"/>
            <a:ext cx="419070" cy="419070"/>
          </a:xfrm>
          <a:prstGeom prst="roundRect">
            <a:avLst>
              <a:gd name="adj" fmla="val 22736"/>
            </a:avLst>
          </a:prstGeom>
          <a:solidFill>
            <a:srgbClr val="D9DEE2"/>
          </a:solidFill>
          <a:ln/>
        </p:spPr>
      </p:sp>
      <p:sp>
        <p:nvSpPr>
          <p:cNvPr id="24" name="Text 22"/>
          <p:cNvSpPr/>
          <p:nvPr/>
        </p:nvSpPr>
        <p:spPr>
          <a:xfrm>
            <a:off x="3847978" y="2695468"/>
            <a:ext cx="419070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⚙️</a:t>
            </a:r>
            <a:endParaRPr lang="en-US" sz="1470" dirty="0"/>
          </a:p>
        </p:txBody>
      </p:sp>
      <p:sp>
        <p:nvSpPr>
          <p:cNvPr id="25" name="Text 23"/>
          <p:cNvSpPr/>
          <p:nvPr/>
        </p:nvSpPr>
        <p:spPr>
          <a:xfrm>
            <a:off x="4381348" y="2543129"/>
            <a:ext cx="200015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自动化核心部件</a:t>
            </a:r>
            <a:endParaRPr lang="en-US" sz="1070" dirty="0"/>
          </a:p>
        </p:txBody>
      </p:sp>
      <p:sp>
        <p:nvSpPr>
          <p:cNvPr id="26" name="Text 24"/>
          <p:cNvSpPr/>
          <p:nvPr/>
        </p:nvSpPr>
        <p:spPr>
          <a:xfrm>
            <a:off x="4381348" y="2847899"/>
            <a:ext cx="200015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4.39 亿元 · 占比 17.04%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381348" y="3076499"/>
            <a:ext cx="200015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4A7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 32.40%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3619378" y="3533699"/>
            <a:ext cx="2857409" cy="838139"/>
          </a:xfrm>
          <a:prstGeom prst="roundRect">
            <a:avLst>
              <a:gd name="adj" fmla="val 1590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19378" y="3533699"/>
            <a:ext cx="47640" cy="838139"/>
          </a:xfrm>
          <a:prstGeom prst="roundRect">
            <a:avLst>
              <a:gd name="adj" fmla="val 39923"/>
            </a:avLst>
          </a:prstGeom>
          <a:solidFill>
            <a:srgbClr val="8FA3D9"/>
          </a:solidFill>
          <a:ln/>
        </p:spPr>
      </p:sp>
      <p:sp>
        <p:nvSpPr>
          <p:cNvPr id="30" name="Shape 28"/>
          <p:cNvSpPr/>
          <p:nvPr/>
        </p:nvSpPr>
        <p:spPr>
          <a:xfrm>
            <a:off x="3847978" y="3743188"/>
            <a:ext cx="419070" cy="419070"/>
          </a:xfrm>
          <a:prstGeom prst="roundRect">
            <a:avLst>
              <a:gd name="adj" fmla="val 22736"/>
            </a:avLst>
          </a:prstGeom>
          <a:solidFill>
            <a:srgbClr val="E9EBEF"/>
          </a:solidFill>
          <a:ln/>
        </p:spPr>
      </p:sp>
      <p:sp>
        <p:nvSpPr>
          <p:cNvPr id="31" name="Text 29"/>
          <p:cNvSpPr/>
          <p:nvPr/>
        </p:nvSpPr>
        <p:spPr>
          <a:xfrm>
            <a:off x="3847978" y="3743188"/>
            <a:ext cx="419070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🌍</a:t>
            </a:r>
            <a:endParaRPr lang="en-US" sz="1470" dirty="0"/>
          </a:p>
        </p:txBody>
      </p:sp>
      <p:sp>
        <p:nvSpPr>
          <p:cNvPr id="32" name="Text 30"/>
          <p:cNvSpPr/>
          <p:nvPr/>
        </p:nvSpPr>
        <p:spPr>
          <a:xfrm>
            <a:off x="4381348" y="3590849"/>
            <a:ext cx="200015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海外业务</a:t>
            </a:r>
            <a:endParaRPr lang="en-US" sz="1070" dirty="0"/>
          </a:p>
        </p:txBody>
      </p:sp>
      <p:sp>
        <p:nvSpPr>
          <p:cNvPr id="33" name="Text 31"/>
          <p:cNvSpPr/>
          <p:nvPr/>
        </p:nvSpPr>
        <p:spPr>
          <a:xfrm>
            <a:off x="4381348" y="3895618"/>
            <a:ext cx="200015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 9.36 亿元 · 占比 36.33%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381348" y="4124218"/>
            <a:ext cx="200015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+25.06%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3619378" y="4581418"/>
            <a:ext cx="2857409" cy="838139"/>
          </a:xfrm>
          <a:prstGeom prst="roundRect">
            <a:avLst>
              <a:gd name="adj" fmla="val 15907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19378" y="4581418"/>
            <a:ext cx="47640" cy="838139"/>
          </a:xfrm>
          <a:prstGeom prst="roundRect">
            <a:avLst>
              <a:gd name="adj" fmla="val 39923"/>
            </a:avLst>
          </a:prstGeom>
          <a:solidFill>
            <a:srgbClr val="0C1B2E"/>
          </a:solidFill>
          <a:ln/>
        </p:spPr>
      </p:sp>
      <p:sp>
        <p:nvSpPr>
          <p:cNvPr id="37" name="Shape 35"/>
          <p:cNvSpPr/>
          <p:nvPr/>
        </p:nvSpPr>
        <p:spPr>
          <a:xfrm>
            <a:off x="3847978" y="4790999"/>
            <a:ext cx="419070" cy="419070"/>
          </a:xfrm>
          <a:prstGeom prst="roundRect">
            <a:avLst>
              <a:gd name="adj" fmla="val 22736"/>
            </a:avLst>
          </a:prstGeom>
          <a:solidFill>
            <a:srgbClr val="BBC5D2"/>
          </a:solidFill>
          <a:ln/>
        </p:spPr>
      </p:sp>
      <p:sp>
        <p:nvSpPr>
          <p:cNvPr id="38" name="Text 36"/>
          <p:cNvSpPr/>
          <p:nvPr/>
        </p:nvSpPr>
        <p:spPr>
          <a:xfrm>
            <a:off x="3847978" y="4790999"/>
            <a:ext cx="419070" cy="419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🤝</a:t>
            </a:r>
            <a:endParaRPr lang="en-US" sz="1470" dirty="0"/>
          </a:p>
        </p:txBody>
      </p:sp>
      <p:sp>
        <p:nvSpPr>
          <p:cNvPr id="39" name="Text 37"/>
          <p:cNvSpPr/>
          <p:nvPr/>
        </p:nvSpPr>
        <p:spPr>
          <a:xfrm>
            <a:off x="4381348" y="4638568"/>
            <a:ext cx="200015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后服务与具身智能</a:t>
            </a:r>
            <a:endParaRPr lang="en-US" sz="1070" dirty="0"/>
          </a:p>
        </p:txBody>
      </p:sp>
      <p:sp>
        <p:nvSpPr>
          <p:cNvPr id="40" name="Text 38"/>
          <p:cNvSpPr/>
          <p:nvPr/>
        </p:nvSpPr>
        <p:spPr>
          <a:xfrm>
            <a:off x="4381348" y="4943338"/>
            <a:ext cx="200015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新增长曲线 · 培育期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81348" y="5171938"/>
            <a:ext cx="2000159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dirty="0">
                <a:solidFill>
                  <a:srgbClr val="0C1B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机器人+AI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7048287" y="1571579"/>
            <a:ext cx="45719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 31.69%（同比 +4.69pct）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7048287" y="1876349"/>
            <a:ext cx="4571909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全品牌出货量连续六个季度第一，连续八年国产品牌第一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048287" y="2619299"/>
            <a:ext cx="45719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 -3.78%：主动优化客户结构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7048287" y="2924068"/>
            <a:ext cx="4571909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受行业波动与转让子公司影响小幅下滑，毛利率仍 +1.82pct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048287" y="3667018"/>
            <a:ext cx="45719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收入占比 36.33%（+6.95pct）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7048287" y="3971788"/>
            <a:ext cx="4571909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欧洲头部客户放量 · 波兰基地投运 · A+H 双资本平台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048287" y="4714738"/>
            <a:ext cx="45719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保有量增长 + 替代周期放量</a:t>
            </a:r>
            <a:endParaRPr lang="en-US" sz="930" dirty="0"/>
          </a:p>
        </p:txBody>
      </p:sp>
      <p:sp>
        <p:nvSpPr>
          <p:cNvPr id="49" name="Text 47"/>
          <p:cNvSpPr/>
          <p:nvPr/>
        </p:nvSpPr>
        <p:spPr>
          <a:xfrm>
            <a:off x="7048287" y="5019507"/>
            <a:ext cx="4571909" cy="247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后服务市场成新盈利点 · 具身智能工业场景加速落地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51" name="Text 49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52" name="Text 50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11</a:t>
            </a:r>
            <a:endParaRPr lang="en-US" sz="6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POSITION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市场地位与全球化：八年国产第一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571500" y="1714500"/>
            <a:ext cx="2057309" cy="1600200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8750" y="1371600"/>
            <a:ext cx="342900" cy="34290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8" name="Text 6"/>
          <p:cNvSpPr/>
          <p:nvPr/>
        </p:nvSpPr>
        <p:spPr>
          <a:xfrm>
            <a:off x="1428750" y="137160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70" dirty="0"/>
          </a:p>
        </p:txBody>
      </p:sp>
      <p:sp>
        <p:nvSpPr>
          <p:cNvPr id="9" name="Text 7"/>
          <p:cNvSpPr/>
          <p:nvPr/>
        </p:nvSpPr>
        <p:spPr>
          <a:xfrm>
            <a:off x="647670" y="198113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8 年</a:t>
            </a:r>
            <a:endParaRPr lang="en-US" sz="1070" dirty="0"/>
          </a:p>
        </p:txBody>
      </p:sp>
      <p:sp>
        <p:nvSpPr>
          <p:cNvPr id="10" name="Text 8"/>
          <p:cNvSpPr/>
          <p:nvPr/>
        </p:nvSpPr>
        <p:spPr>
          <a:xfrm>
            <a:off x="685800" y="2324039"/>
            <a:ext cx="1828709" cy="666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国产品牌工业机器人出货量第一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81239" y="1714500"/>
            <a:ext cx="2057309" cy="1600200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38489" y="1371600"/>
            <a:ext cx="342900" cy="34290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13" name="Text 11"/>
          <p:cNvSpPr/>
          <p:nvPr/>
        </p:nvSpPr>
        <p:spPr>
          <a:xfrm>
            <a:off x="3638489" y="137160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2857409" y="198113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6 个季度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2895539" y="2324039"/>
            <a:ext cx="1828709" cy="666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全品牌出货量榜首（MIR 数据）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990978" y="1714500"/>
            <a:ext cx="2057309" cy="1600200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8228" y="1371600"/>
            <a:ext cx="342900" cy="34290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18" name="Text 16"/>
          <p:cNvSpPr/>
          <p:nvPr/>
        </p:nvSpPr>
        <p:spPr>
          <a:xfrm>
            <a:off x="5848228" y="137160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70" dirty="0"/>
          </a:p>
        </p:txBody>
      </p:sp>
      <p:sp>
        <p:nvSpPr>
          <p:cNvPr id="19" name="Text 17"/>
          <p:cNvSpPr/>
          <p:nvPr/>
        </p:nvSpPr>
        <p:spPr>
          <a:xfrm>
            <a:off x="5067148" y="198113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A+H 双平台</a:t>
            </a:r>
            <a:endParaRPr lang="en-US" sz="1070" dirty="0"/>
          </a:p>
        </p:txBody>
      </p:sp>
      <p:sp>
        <p:nvSpPr>
          <p:cNvPr id="20" name="Text 18"/>
          <p:cNvSpPr/>
          <p:nvPr/>
        </p:nvSpPr>
        <p:spPr>
          <a:xfrm>
            <a:off x="5105278" y="2324039"/>
            <a:ext cx="1828709" cy="666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股发行落地，筹资现金流 +254.6%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200717" y="1714500"/>
            <a:ext cx="2057309" cy="1600200"/>
          </a:xfrm>
          <a:prstGeom prst="roundRect">
            <a:avLst>
              <a:gd name="adj" fmla="val 833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57967" y="1371600"/>
            <a:ext cx="342900" cy="34290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23" name="Text 21"/>
          <p:cNvSpPr/>
          <p:nvPr/>
        </p:nvSpPr>
        <p:spPr>
          <a:xfrm>
            <a:off x="8057967" y="137160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70" dirty="0"/>
          </a:p>
        </p:txBody>
      </p:sp>
      <p:sp>
        <p:nvSpPr>
          <p:cNvPr id="24" name="Text 22"/>
          <p:cNvSpPr/>
          <p:nvPr/>
        </p:nvSpPr>
        <p:spPr>
          <a:xfrm>
            <a:off x="7276887" y="198113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波兰基地投运</a:t>
            </a:r>
            <a:endParaRPr lang="en-US" sz="1070" dirty="0"/>
          </a:p>
        </p:txBody>
      </p:sp>
      <p:sp>
        <p:nvSpPr>
          <p:cNvPr id="25" name="Text 23"/>
          <p:cNvSpPr/>
          <p:nvPr/>
        </p:nvSpPr>
        <p:spPr>
          <a:xfrm>
            <a:off x="7315017" y="2324039"/>
            <a:ext cx="1828709" cy="666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欧洲本土供应链与制造基地投入运营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410456" y="1714500"/>
            <a:ext cx="2057309" cy="1600200"/>
          </a:xfrm>
          <a:prstGeom prst="roundRect">
            <a:avLst>
              <a:gd name="adj" fmla="val 8331"/>
            </a:avLst>
          </a:prstGeom>
          <a:solidFill>
            <a:srgbClr val="0C1B2E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67706" y="1371600"/>
            <a:ext cx="342900" cy="342900"/>
          </a:xfrm>
          <a:prstGeom prst="ellipse">
            <a:avLst/>
          </a:prstGeom>
          <a:solidFill>
            <a:srgbClr val="F26B21"/>
          </a:solidFill>
          <a:ln/>
        </p:spPr>
      </p:sp>
      <p:sp>
        <p:nvSpPr>
          <p:cNvPr id="28" name="Text 26"/>
          <p:cNvSpPr/>
          <p:nvPr/>
        </p:nvSpPr>
        <p:spPr>
          <a:xfrm>
            <a:off x="10267706" y="137160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9486626" y="1981139"/>
            <a:ext cx="1904970" cy="2667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机器人+AI</a:t>
            </a:r>
            <a:endParaRPr lang="en-US" sz="1070" dirty="0"/>
          </a:p>
        </p:txBody>
      </p:sp>
      <p:sp>
        <p:nvSpPr>
          <p:cNvPr id="30" name="Text 28"/>
          <p:cNvSpPr/>
          <p:nvPr/>
        </p:nvSpPr>
        <p:spPr>
          <a:xfrm>
            <a:off x="9524756" y="2324039"/>
            <a:ext cx="1828709" cy="6666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B8C2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具身智能工业场景部署加速落地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71500" y="3809939"/>
            <a:ext cx="5333878" cy="1714500"/>
          </a:xfrm>
          <a:prstGeom prst="roundRect">
            <a:avLst>
              <a:gd name="adj" fmla="val 7776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1500" y="3809939"/>
            <a:ext cx="533387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33" name="Text 31"/>
          <p:cNvSpPr/>
          <p:nvPr/>
        </p:nvSpPr>
        <p:spPr>
          <a:xfrm>
            <a:off x="838139" y="4038539"/>
            <a:ext cx="476237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欧洲市场突破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8139" y="4457609"/>
            <a:ext cx="48005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进入多家头部汽车零部件及一般工业客户供应商名录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838139" y="4800509"/>
            <a:ext cx="4800509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产品渗透率稳步提升，订单快速增长；波兰基地发挥中国-欧洲供应链效率优势。</a:t>
            </a:r>
            <a:endParaRPr lang="en-US" sz="870" dirty="0"/>
          </a:p>
        </p:txBody>
      </p:sp>
      <p:sp>
        <p:nvSpPr>
          <p:cNvPr id="36" name="Shape 34"/>
          <p:cNvSpPr/>
          <p:nvPr/>
        </p:nvSpPr>
        <p:spPr>
          <a:xfrm>
            <a:off x="6286317" y="3809939"/>
            <a:ext cx="5333878" cy="1714500"/>
          </a:xfrm>
          <a:prstGeom prst="roundRect">
            <a:avLst>
              <a:gd name="adj" fmla="val 7776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86317" y="3809939"/>
            <a:ext cx="533387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38" name="Text 36"/>
          <p:cNvSpPr/>
          <p:nvPr/>
        </p:nvSpPr>
        <p:spPr>
          <a:xfrm>
            <a:off x="6553048" y="4038539"/>
            <a:ext cx="476237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后服务市场崛起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553048" y="4457609"/>
            <a:ext cx="4800509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「产品+服务」双轮驱动，全生命周期后服务体系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553048" y="4800509"/>
            <a:ext cx="4800509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机器人保有量增长叠加替代周期到来，后服务市场正成为新的盈利增长点。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571500" y="5810098"/>
            <a:ext cx="11048695" cy="476220"/>
          </a:xfrm>
          <a:prstGeom prst="roundRect">
            <a:avLst>
              <a:gd name="adj" fmla="val 24002"/>
            </a:avLst>
          </a:prstGeom>
          <a:solidFill>
            <a:srgbClr val="0C1B2E"/>
          </a:solidFill>
          <a:ln/>
        </p:spPr>
      </p:sp>
      <p:sp>
        <p:nvSpPr>
          <p:cNvPr id="42" name="Text 40"/>
          <p:cNvSpPr/>
          <p:nvPr/>
        </p:nvSpPr>
        <p:spPr>
          <a:xfrm>
            <a:off x="571500" y="5810098"/>
            <a:ext cx="11048695" cy="476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从国产替代到全球竞争：全品牌出货量榜首的含金量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44" name="Text 42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45" name="Text 43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11</a:t>
            </a:r>
            <a:endParaRPr lang="en-US" sz="6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495330"/>
            <a:ext cx="57150" cy="40005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4" name="Text 2"/>
          <p:cNvSpPr/>
          <p:nvPr/>
        </p:nvSpPr>
        <p:spPr>
          <a:xfrm>
            <a:off x="761970" y="457200"/>
            <a:ext cx="38099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spc="200" kern="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OUTLOOK &amp; RISKS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761970" y="628650"/>
            <a:ext cx="7619787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7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展望与风险：拐点之后，看兑现</a:t>
            </a:r>
            <a:endParaRPr lang="en-US" sz="1870" dirty="0"/>
          </a:p>
        </p:txBody>
      </p:sp>
      <p:sp>
        <p:nvSpPr>
          <p:cNvPr id="6" name="Shape 4"/>
          <p:cNvSpPr/>
          <p:nvPr/>
        </p:nvSpPr>
        <p:spPr>
          <a:xfrm>
            <a:off x="571500" y="1333470"/>
            <a:ext cx="5333878" cy="4190878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1500" y="1333470"/>
            <a:ext cx="5333878" cy="38130"/>
          </a:xfrm>
          <a:prstGeom prst="roundRect">
            <a:avLst>
              <a:gd name="adj" fmla="val 49881"/>
            </a:avLst>
          </a:prstGeom>
          <a:solidFill>
            <a:srgbClr val="F26B21"/>
          </a:solidFill>
          <a:ln/>
        </p:spPr>
      </p:sp>
      <p:sp>
        <p:nvSpPr>
          <p:cNvPr id="8" name="Text 6"/>
          <p:cNvSpPr/>
          <p:nvPr/>
        </p:nvSpPr>
        <p:spPr>
          <a:xfrm>
            <a:off x="838139" y="1562070"/>
            <a:ext cx="4762378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下半年四大看点</a:t>
            </a:r>
            <a:endParaRPr lang="en-US" sz="1330" dirty="0"/>
          </a:p>
        </p:txBody>
      </p:sp>
      <p:sp>
        <p:nvSpPr>
          <p:cNvPr id="9" name="Shape 7"/>
          <p:cNvSpPr/>
          <p:nvPr/>
        </p:nvSpPr>
        <p:spPr>
          <a:xfrm>
            <a:off x="838139" y="2057309"/>
            <a:ext cx="4800509" cy="685800"/>
          </a:xfrm>
          <a:prstGeom prst="roundRect">
            <a:avLst>
              <a:gd name="adj" fmla="val 16667"/>
            </a:avLst>
          </a:prstGeom>
          <a:solidFill>
            <a:srgbClr val="F7F6F3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739" y="2057309"/>
            <a:ext cx="4381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海外订单兑现：欧洲标杆客户放量节奏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8139" y="2895539"/>
            <a:ext cx="4800509" cy="685800"/>
          </a:xfrm>
          <a:prstGeom prst="roundRect">
            <a:avLst>
              <a:gd name="adj" fmla="val 16667"/>
            </a:avLst>
          </a:prstGeom>
          <a:solidFill>
            <a:srgbClr val="F7F6F3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6739" y="2895539"/>
            <a:ext cx="4381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具身智能：机器人+AI 场景落地进度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38139" y="3733678"/>
            <a:ext cx="4800509" cy="685800"/>
          </a:xfrm>
          <a:prstGeom prst="roundRect">
            <a:avLst>
              <a:gd name="adj" fmla="val 16667"/>
            </a:avLst>
          </a:prstGeom>
          <a:solidFill>
            <a:srgbClr val="F7F6F3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6739" y="3733678"/>
            <a:ext cx="4381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核心部件企稳：收入降幅收窄信号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38139" y="4571909"/>
            <a:ext cx="4800509" cy="685800"/>
          </a:xfrm>
          <a:prstGeom prst="roundRect">
            <a:avLst>
              <a:gd name="adj" fmla="val 16667"/>
            </a:avLst>
          </a:prstGeom>
          <a:solidFill>
            <a:srgbClr val="F7F6F3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739" y="4571909"/>
            <a:ext cx="4381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后服务市场：保有量 + 替代周期放量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86317" y="1333470"/>
            <a:ext cx="5333878" cy="4190878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E8E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17" y="1333470"/>
            <a:ext cx="5333878" cy="38130"/>
          </a:xfrm>
          <a:prstGeom prst="roundRect">
            <a:avLst>
              <a:gd name="adj" fmla="val 49881"/>
            </a:avLst>
          </a:prstGeom>
          <a:solidFill>
            <a:srgbClr val="C9CFDA"/>
          </a:solidFill>
          <a:ln/>
        </p:spPr>
      </p:sp>
      <p:sp>
        <p:nvSpPr>
          <p:cNvPr id="19" name="Text 17"/>
          <p:cNvSpPr/>
          <p:nvPr/>
        </p:nvSpPr>
        <p:spPr>
          <a:xfrm>
            <a:off x="6553048" y="1562070"/>
            <a:ext cx="4762378" cy="3047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7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风险提示</a:t>
            </a:r>
            <a:endParaRPr lang="en-US" sz="1330" dirty="0"/>
          </a:p>
        </p:txBody>
      </p:sp>
      <p:sp>
        <p:nvSpPr>
          <p:cNvPr id="20" name="Shape 18"/>
          <p:cNvSpPr/>
          <p:nvPr/>
        </p:nvSpPr>
        <p:spPr>
          <a:xfrm>
            <a:off x="6553048" y="2019270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1" name="Text 19"/>
          <p:cNvSpPr/>
          <p:nvPr/>
        </p:nvSpPr>
        <p:spPr>
          <a:xfrm>
            <a:off x="6553048" y="2247870"/>
            <a:ext cx="4800509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归母净利中约 1.0 亿元为股权置换公允价值变动收益，非经常性损益占比高；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553048" y="2933670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3" name="Text 21"/>
          <p:cNvSpPr/>
          <p:nvPr/>
        </p:nvSpPr>
        <p:spPr>
          <a:xfrm>
            <a:off x="6553048" y="3162178"/>
            <a:ext cx="4800509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下游汽车、新能源等制造领域需求波动可能影响订单节奏；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6553048" y="384797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5" name="Text 23"/>
          <p:cNvSpPr/>
          <p:nvPr/>
        </p:nvSpPr>
        <p:spPr>
          <a:xfrm>
            <a:off x="6553048" y="4076578"/>
            <a:ext cx="4800509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3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海外拓展、汇率波动及核心部件竞争加剧存在不确定性；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6553048" y="4762378"/>
            <a:ext cx="4800509" cy="9510"/>
          </a:xfrm>
          <a:prstGeom prst="rect">
            <a:avLst/>
          </a:prstGeom>
          <a:solidFill>
            <a:srgbClr val="E8E4DC"/>
          </a:solidFill>
          <a:ln/>
        </p:spPr>
      </p:sp>
      <p:sp>
        <p:nvSpPr>
          <p:cNvPr id="27" name="Text 25"/>
          <p:cNvSpPr/>
          <p:nvPr/>
        </p:nvSpPr>
        <p:spPr>
          <a:xfrm>
            <a:off x="6553048" y="4952848"/>
            <a:ext cx="4800509" cy="381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数据均摘自公司 2026 年半年度报告，请以公告原文为准。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571500" y="5810098"/>
            <a:ext cx="11048695" cy="476220"/>
          </a:xfrm>
          <a:prstGeom prst="roundRect">
            <a:avLst>
              <a:gd name="adj" fmla="val 24002"/>
            </a:avLst>
          </a:prstGeom>
          <a:solidFill>
            <a:srgbClr val="0C1B2E"/>
          </a:solidFill>
          <a:ln/>
        </p:spPr>
      </p:sp>
      <p:sp>
        <p:nvSpPr>
          <p:cNvPr id="29" name="Text 27"/>
          <p:cNvSpPr/>
          <p:nvPr/>
        </p:nvSpPr>
        <p:spPr>
          <a:xfrm>
            <a:off x="571500" y="5810098"/>
            <a:ext cx="11048695" cy="476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拐点已确认，下半年看海外订单与具身智能的兑现节奏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71500" y="6553048"/>
            <a:ext cx="11048695" cy="9510"/>
          </a:xfrm>
          <a:prstGeom prst="rect">
            <a:avLst/>
          </a:prstGeom>
          <a:solidFill>
            <a:srgbClr val="E5E1D8"/>
          </a:solidFill>
          <a:ln/>
        </p:spPr>
      </p:sp>
      <p:sp>
        <p:nvSpPr>
          <p:cNvPr id="31" name="Text 29"/>
          <p:cNvSpPr/>
          <p:nvPr/>
        </p:nvSpPr>
        <p:spPr>
          <a:xfrm>
            <a:off x="571500" y="6629217"/>
            <a:ext cx="476237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ESTUN AUTOMATION · 2026 半年度报告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0667756" y="6629217"/>
            <a:ext cx="952439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70" dirty="0">
                <a:solidFill>
                  <a:srgbClr val="9AA0A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11</a:t>
            </a:r>
            <a:endParaRPr lang="en-US" sz="6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0C1B2E"/>
          </a:solidFill>
          <a:ln/>
        </p:spPr>
      </p:sp>
      <p:sp>
        <p:nvSpPr>
          <p:cNvPr id="3" name="Shape 1"/>
          <p:cNvSpPr/>
          <p:nvPr/>
        </p:nvSpPr>
        <p:spPr>
          <a:xfrm>
            <a:off x="-857250" y="3714659"/>
            <a:ext cx="4000409" cy="4000409"/>
          </a:xfrm>
          <a:prstGeom prst="ellipse">
            <a:avLst/>
          </a:prstGeom>
          <a:solidFill>
            <a:srgbClr val="000000">
              <a:alpha val="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428750"/>
            <a:ext cx="12191695" cy="209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300" kern="0" dirty="0">
                <a:solidFill>
                  <a:srgbClr val="7C8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333470" y="2190720"/>
            <a:ext cx="9524756" cy="6666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7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八年出货量第一 × 盈利质量改善 × 全球化加速</a:t>
            </a:r>
            <a:endParaRPr lang="en-US" sz="2670" dirty="0"/>
          </a:p>
        </p:txBody>
      </p:sp>
      <p:sp>
        <p:nvSpPr>
          <p:cNvPr id="6" name="Shape 4"/>
          <p:cNvSpPr/>
          <p:nvPr/>
        </p:nvSpPr>
        <p:spPr>
          <a:xfrm>
            <a:off x="5791078" y="3143159"/>
            <a:ext cx="609539" cy="38130"/>
          </a:xfrm>
          <a:prstGeom prst="rect">
            <a:avLst/>
          </a:prstGeom>
          <a:solidFill>
            <a:srgbClr val="F26B21"/>
          </a:solidFill>
          <a:ln/>
        </p:spPr>
      </p:sp>
      <p:sp>
        <p:nvSpPr>
          <p:cNvPr id="7" name="Text 5"/>
          <p:cNvSpPr/>
          <p:nvPr/>
        </p:nvSpPr>
        <p:spPr>
          <a:xfrm>
            <a:off x="1333470" y="3524189"/>
            <a:ext cx="9524756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C2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埃斯顿正从国产替代龙头，走向全球工业机器人第一梯队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470" y="4476628"/>
            <a:ext cx="9524756" cy="3810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F26B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让制造更智能</a:t>
            </a:r>
            <a:endParaRPr lang="en-US" sz="1470" dirty="0"/>
          </a:p>
        </p:txBody>
      </p:sp>
      <p:sp>
        <p:nvSpPr>
          <p:cNvPr id="9" name="Text 7"/>
          <p:cNvSpPr/>
          <p:nvPr/>
        </p:nvSpPr>
        <p:spPr>
          <a:xfrm>
            <a:off x="1333470" y="6095848"/>
            <a:ext cx="95247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72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数据来源：公司 2026 年半年度报告（深交所披露）· 请以公告原文为准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埃斯顿 2026 中期业绩简报</dc:title>
  <dc:subject>PptxGenJS Presentation</dc:subject>
  <dc:creator>ai-ppt-gen</dc:creator>
  <cp:lastModifiedBy>ai-ppt-gen</cp:lastModifiedBy>
  <cp:revision>1</cp:revision>
  <dcterms:created xsi:type="dcterms:W3CDTF">2026-09-01T10:00:25Z</dcterms:created>
  <dcterms:modified xsi:type="dcterms:W3CDTF">2026-09-01T10:00:25Z</dcterms:modified>
</cp:coreProperties>
</file>